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48902" y="-1429207"/>
            <a:ext cx="4762195" cy="4762195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4286707"/>
            <a:ext cx="3333902" cy="3333902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99" b="-399"/>
          <a:stretch/>
        </p:blipFill>
        <p:spPr>
          <a:xfrm>
            <a:off x="761695" y="6286500"/>
            <a:ext cx="10668305" cy="384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6229807"/>
            <a:ext cx="1143000" cy="152705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" y="571500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A0AA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YOUR COMPANY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381098"/>
            <a:ext cx="106683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XOP Aトラック：ビルオーナー直接施工フロー</a:t>
            </a:r>
            <a:endParaRPr lang="en-US" sz="45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905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75" kern="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ステップ別 アクション・用意書類まとめ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95330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更新日：2026/04/06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53721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担当：吉岡営業チーム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-952805"/>
            <a:ext cx="2857500" cy="2857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305" y="476219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476756"/>
            <a:ext cx="761695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761695"/>
            <a:ext cx="5715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25292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53" b="-353"/>
          <a:stretch/>
        </p:blipFill>
        <p:spPr>
          <a:xfrm>
            <a:off x="2704795" y="2542946"/>
            <a:ext cx="28346" cy="3044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62656" y="2476195"/>
            <a:ext cx="924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初接触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34436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53" b="-353"/>
          <a:stretch/>
        </p:blipFill>
        <p:spPr>
          <a:xfrm>
            <a:off x="2704795" y="3457346"/>
            <a:ext cx="28346" cy="3044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62656" y="3390595"/>
            <a:ext cx="924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提案中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43580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53" b="-353"/>
          <a:stretch/>
        </p:blipFill>
        <p:spPr>
          <a:xfrm>
            <a:off x="2704795" y="4371746"/>
            <a:ext cx="28346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962656" y="4304995"/>
            <a:ext cx="12289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見積提出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52724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</a:t>
            </a:r>
            <a:endParaRPr lang="en-US" sz="1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53" b="-353"/>
          <a:stretch/>
        </p:blipFill>
        <p:spPr>
          <a:xfrm>
            <a:off x="2704795" y="5286146"/>
            <a:ext cx="28346" cy="3044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962656" y="5219395"/>
            <a:ext cx="924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交渉中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6667805" y="25292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5</a:t>
            </a:r>
            <a:endParaRPr lang="en-US" sz="1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53" b="-353"/>
          <a:stretch/>
        </p:blipFill>
        <p:spPr>
          <a:xfrm>
            <a:off x="7848295" y="2542946"/>
            <a:ext cx="28346" cy="3044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106156" y="2476195"/>
            <a:ext cx="12152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FIX直前</a:t>
            </a:r>
            <a:endParaRPr lang="en-US" sz="2400" dirty="0"/>
          </a:p>
        </p:txBody>
      </p:sp>
      <p:sp>
        <p:nvSpPr>
          <p:cNvPr id="23" name="Text 15"/>
          <p:cNvSpPr txBox="1"/>
          <p:nvPr/>
        </p:nvSpPr>
        <p:spPr>
          <a:xfrm>
            <a:off x="6667805" y="34436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6</a:t>
            </a:r>
            <a:endParaRPr lang="en-US" sz="1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53" b="-353"/>
          <a:stretch/>
        </p:blipFill>
        <p:spPr>
          <a:xfrm>
            <a:off x="7848295" y="3457346"/>
            <a:ext cx="28346" cy="30449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106156" y="3390595"/>
            <a:ext cx="924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施工中</a:t>
            </a:r>
            <a:endParaRPr lang="en-US" sz="2400" dirty="0"/>
          </a:p>
        </p:txBody>
      </p:sp>
      <p:sp>
        <p:nvSpPr>
          <p:cNvPr id="26" name="Text 17"/>
          <p:cNvSpPr txBox="1"/>
          <p:nvPr/>
        </p:nvSpPr>
        <p:spPr>
          <a:xfrm>
            <a:off x="6667805" y="43580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7</a:t>
            </a:r>
            <a:endParaRPr lang="en-US" sz="18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53" b="-353"/>
          <a:stretch/>
        </p:blipFill>
        <p:spPr>
          <a:xfrm>
            <a:off x="7848295" y="4371746"/>
            <a:ext cx="28346" cy="30449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06156" y="4304995"/>
            <a:ext cx="6199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</a:t>
            </a:r>
            <a:endParaRPr lang="en-US" sz="2400" dirty="0"/>
          </a:p>
        </p:txBody>
      </p:sp>
      <p:sp>
        <p:nvSpPr>
          <p:cNvPr id="29" name="Text 19"/>
          <p:cNvSpPr txBox="1"/>
          <p:nvPr/>
        </p:nvSpPr>
        <p:spPr>
          <a:xfrm>
            <a:off x="6667805" y="527243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spc="75" kern="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DOCS</a:t>
            </a:r>
            <a:endParaRPr lang="en-US" sz="18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353" b="-353"/>
          <a:stretch/>
        </p:blipFill>
        <p:spPr>
          <a:xfrm>
            <a:off x="7848295" y="5286146"/>
            <a:ext cx="28346" cy="30449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106156" y="5219395"/>
            <a:ext cx="1838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重要書類一覧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10668305" cy="666598"/>
          </a:xfrm>
          <a:prstGeom prst="roundRect">
            <a:avLst>
              <a:gd name="adj" fmla="val 31354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2190902"/>
            <a:ext cx="51435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0" y="2190902"/>
            <a:ext cx="51435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5238598"/>
            <a:ext cx="10668305" cy="1047902"/>
          </a:xfrm>
          <a:prstGeom prst="roundRect">
            <a:avLst>
              <a:gd name="adj" fmla="val 6346"/>
            </a:avLst>
          </a:prstGeom>
          <a:solidFill>
            <a:srgbClr val="F9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1695" y="5238598"/>
            <a:ext cx="75895" cy="1047902"/>
          </a:xfrm>
          <a:prstGeom prst="roundRect">
            <a:avLst>
              <a:gd name="adj" fmla="val 87623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1｜①初接触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47902" y="1485900"/>
            <a:ext cx="1438351" cy="352044"/>
          </a:xfrm>
          <a:prstGeom prst="roundRect">
            <a:avLst>
              <a:gd name="adj" fmla="val 56160"/>
            </a:avLst>
          </a:prstGeom>
          <a:solidFill>
            <a:srgbClr val="0F4C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7902" y="1485900"/>
            <a:ext cx="14383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フェーズ定義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6449" y="1495044"/>
            <a:ext cx="2057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初回挨拶・紹介のみ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902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62456" y="2381098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必要なアクション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047902" y="2447849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7902" y="29910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952598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挨拶・ヒアリング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429000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390595"/>
            <a:ext cx="4191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建物情報・オーナーのペイン（困りごと）を把握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47902" y="3866998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3829507"/>
            <a:ext cx="1696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XOPの概要を伝える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572707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43954" y="2381098"/>
            <a:ext cx="1591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用意すべき書類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6572707" y="2447849"/>
            <a:ext cx="256946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72707" y="29910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31482" y="2952598"/>
            <a:ext cx="21241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会社案内・パンフレット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（XOP＆キーストン社の紹介）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72707" y="36191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831482" y="3581705"/>
            <a:ext cx="1981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XOP製品カタログ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（技術概要・施工イメージ）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572707" y="42483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831482" y="4209898"/>
            <a:ext cx="28035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施工事例写真集</a:t>
            </a:r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（類似物件の実績）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572707" y="46478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831482" y="4610405"/>
            <a:ext cx="3429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名刺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5443423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【完了条件】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2628900" y="5429707"/>
            <a:ext cx="3115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面談/電話完了。ニーズ有無を確認。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5857646"/>
            <a:ext cx="1334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【次へのトリガー】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2628900" y="5967374"/>
            <a:ext cx="5039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「詳しい説明を聞きたい」「資料送って」など前向きな反応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10668305" cy="666598"/>
          </a:xfrm>
          <a:prstGeom prst="roundRect">
            <a:avLst>
              <a:gd name="adj" fmla="val 31354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2190902"/>
            <a:ext cx="5143500" cy="3143707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0" y="2190902"/>
            <a:ext cx="5143500" cy="3143707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5524805"/>
            <a:ext cx="10668305" cy="1047902"/>
          </a:xfrm>
          <a:prstGeom prst="roundRect">
            <a:avLst>
              <a:gd name="adj" fmla="val 6346"/>
            </a:avLst>
          </a:prstGeom>
          <a:solidFill>
            <a:srgbClr val="F9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1695" y="5524805"/>
            <a:ext cx="75895" cy="1047902"/>
          </a:xfrm>
          <a:prstGeom prst="roundRect">
            <a:avLst>
              <a:gd name="adj" fmla="val 87623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2｜②提案中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47902" y="1485900"/>
            <a:ext cx="1438351" cy="352044"/>
          </a:xfrm>
          <a:prstGeom prst="roundRect">
            <a:avLst>
              <a:gd name="adj" fmla="val 56160"/>
            </a:avLst>
          </a:prstGeom>
          <a:solidFill>
            <a:srgbClr val="0F4C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7902" y="1485900"/>
            <a:ext cx="14383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フェーズ定義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6449" y="1495044"/>
            <a:ext cx="1828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提案・資料送付済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902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62456" y="2381098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必要なアクション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047902" y="2447849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7902" y="29910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952598"/>
            <a:ext cx="4181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XOP詳細説明（技術優位性・耐久性・競合比較）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429000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390595"/>
            <a:ext cx="16486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ROIを試算して提示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47902" y="3866998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3829507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施工事例を見せる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572707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43954" y="2381098"/>
            <a:ext cx="1591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用意すべき書類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6572707" y="2447849"/>
            <a:ext cx="256946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72707" y="29910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31482" y="2952598"/>
            <a:ext cx="35149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 XOP提案書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（技術優位性・耐久性・競合比較をまとめた資料）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72707" y="36191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831482" y="3581705"/>
            <a:ext cx="29059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 ROI試算シート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（塗装コスト削減・耐用年数比較の試算）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572707" y="42483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831482" y="4209898"/>
            <a:ext cx="26005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施工事例集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（具体的な現場写真・評価コメント）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572707" y="48764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831482" y="4839005"/>
            <a:ext cx="28035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製品サンプル</a:t>
            </a:r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（可能であれば現物）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5729630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【完了条件】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2628900" y="5715000"/>
            <a:ext cx="27422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提案資料を送付 / 説明完了。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6143854"/>
            <a:ext cx="1334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【次へのトリガー】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2628900" y="6253582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「見積を出してほしい」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10668305" cy="666598"/>
          </a:xfrm>
          <a:prstGeom prst="roundRect">
            <a:avLst>
              <a:gd name="adj" fmla="val 31354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2190902"/>
            <a:ext cx="51435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0" y="2190902"/>
            <a:ext cx="51435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5238598"/>
            <a:ext cx="10668305" cy="1047902"/>
          </a:xfrm>
          <a:prstGeom prst="roundRect">
            <a:avLst>
              <a:gd name="adj" fmla="val 6346"/>
            </a:avLst>
          </a:prstGeom>
          <a:solidFill>
            <a:srgbClr val="F9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1695" y="5238598"/>
            <a:ext cx="75895" cy="1047902"/>
          </a:xfrm>
          <a:prstGeom prst="roundRect">
            <a:avLst>
              <a:gd name="adj" fmla="val 87623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3｜③見積提出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47902" y="1485900"/>
            <a:ext cx="1438351" cy="352044"/>
          </a:xfrm>
          <a:prstGeom prst="roundRect">
            <a:avLst>
              <a:gd name="adj" fmla="val 56160"/>
            </a:avLst>
          </a:prstGeom>
          <a:solidFill>
            <a:srgbClr val="0F4C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7902" y="1485900"/>
            <a:ext cx="14383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フェーズ定義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6449" y="1495044"/>
            <a:ext cx="1600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見積書を提出済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902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62456" y="2381098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必要なアクション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047902" y="2447849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7902" y="29910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952598"/>
            <a:ext cx="22293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現地調査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（面積・素材・難易度確認）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7911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752698"/>
            <a:ext cx="2057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見積書を作成し提出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（施工費・材料費・工期）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72707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43954" y="2381098"/>
            <a:ext cx="1591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用意すべき書類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6572707" y="2447849"/>
            <a:ext cx="256946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572707" y="29910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831482" y="2952598"/>
            <a:ext cx="19915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現地調査シート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（面積・素材・状態の記録）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572707" y="3696005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3657600"/>
            <a:ext cx="22960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見積書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（施工費・材料費・工期を明記）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72707" y="4401007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831482" y="4362602"/>
            <a:ext cx="16770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面積計測メモ / 写真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（根拠資料として添付）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143000" y="5443423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【完了条件】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2819095" y="5429707"/>
            <a:ext cx="1524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見積書送付完了。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143000" y="5872277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【次へのトリガー】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2819095" y="5857646"/>
            <a:ext cx="3333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「内容確認した」「金額の話をしたい」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10668305" cy="666598"/>
          </a:xfrm>
          <a:prstGeom prst="roundRect">
            <a:avLst>
              <a:gd name="adj" fmla="val 31354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2190902"/>
            <a:ext cx="51435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0" y="2190902"/>
            <a:ext cx="51435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5238598"/>
            <a:ext cx="10668305" cy="1047902"/>
          </a:xfrm>
          <a:prstGeom prst="roundRect">
            <a:avLst>
              <a:gd name="adj" fmla="val 6346"/>
            </a:avLst>
          </a:prstGeom>
          <a:solidFill>
            <a:srgbClr val="F9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1695" y="5238598"/>
            <a:ext cx="75895" cy="1047902"/>
          </a:xfrm>
          <a:prstGeom prst="roundRect">
            <a:avLst>
              <a:gd name="adj" fmla="val 87623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4｜④交渉中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47902" y="1485900"/>
            <a:ext cx="1438351" cy="352044"/>
          </a:xfrm>
          <a:prstGeom prst="roundRect">
            <a:avLst>
              <a:gd name="adj" fmla="val 56160"/>
            </a:avLst>
          </a:prstGeom>
          <a:solidFill>
            <a:srgbClr val="0F4C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7902" y="1485900"/>
            <a:ext cx="14383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フェーズ定義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6449" y="1495044"/>
            <a:ext cx="1828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条件・価格交渉中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902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62456" y="2381098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必要なアクション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047902" y="2447849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7902" y="29910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952598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価格・工期・条件交渉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429000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390595"/>
            <a:ext cx="3620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追加要望（アフターサポート等）への対応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72707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43954" y="2381098"/>
            <a:ext cx="1591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用意すべき書類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6572707" y="2447849"/>
            <a:ext cx="256946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572707" y="29910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831482" y="2952598"/>
            <a:ext cx="21433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修正見積書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（交渉内容を反映した改訂版）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572707" y="36191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31482" y="3581705"/>
            <a:ext cx="2286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アフターサポート説明資料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（保証内容・メンテナンス体制）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72707" y="42483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831482" y="4209898"/>
            <a:ext cx="13816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交渉メモ / 議事録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（合意事項の記録）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143000" y="5443423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【完了条件】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2819095" y="5429707"/>
            <a:ext cx="2086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合意方針が見えてきた。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143000" y="5872277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【次へのトリガー】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2819095" y="5857646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「OK出た」「契約書を準備して」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10668305" cy="666598"/>
          </a:xfrm>
          <a:prstGeom prst="roundRect">
            <a:avLst>
              <a:gd name="adj" fmla="val 31354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2190902"/>
            <a:ext cx="5143500" cy="34290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0" y="2190902"/>
            <a:ext cx="5143500" cy="3429000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5810098"/>
            <a:ext cx="10668305" cy="857707"/>
          </a:xfrm>
          <a:prstGeom prst="roundRect">
            <a:avLst>
              <a:gd name="adj" fmla="val 9476"/>
            </a:avLst>
          </a:prstGeom>
          <a:solidFill>
            <a:srgbClr val="F9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1695" y="5810098"/>
            <a:ext cx="75895" cy="857707"/>
          </a:xfrm>
          <a:prstGeom prst="roundRect">
            <a:avLst>
              <a:gd name="adj" fmla="val 107095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5｜⑤FIX直前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47902" y="1485900"/>
            <a:ext cx="1438351" cy="352044"/>
          </a:xfrm>
          <a:prstGeom prst="roundRect">
            <a:avLst>
              <a:gd name="adj" fmla="val 56160"/>
            </a:avLst>
          </a:prstGeom>
          <a:solidFill>
            <a:srgbClr val="0F4C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7902" y="1485900"/>
            <a:ext cx="14383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フェーズ定義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6449" y="1495044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合意間近・最終確認中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902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62456" y="2381098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必要なアクション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047902" y="2447849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7902" y="29910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952598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契約書を準備・送付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429000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390595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工期・職人手配の確定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72707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43954" y="2381098"/>
            <a:ext cx="1591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用意すべき書類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6572707" y="2447849"/>
            <a:ext cx="256946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572707" y="29910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831482" y="2952598"/>
            <a:ext cx="15343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契約書（2部）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（双方署名・押印用）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572707" y="36191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31482" y="3581705"/>
            <a:ext cx="24487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工程スケジュール表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（着工日・完了予定日・工程詳細）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72707" y="42483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831482" y="4209898"/>
            <a:ext cx="12006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職人手配確認書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（人数・日程）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572707" y="48764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831482" y="4839005"/>
            <a:ext cx="1714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施工前チェックリスト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（現場準備確認）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1143000" y="5919826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【完了条件】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3010205" y="5905195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契約書に双方署名。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6301130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【次へのトリガー】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3010205" y="6286500"/>
            <a:ext cx="762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署名完了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10668305" cy="666598"/>
          </a:xfrm>
          <a:prstGeom prst="roundRect">
            <a:avLst>
              <a:gd name="adj" fmla="val 31354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2190902"/>
            <a:ext cx="5143500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0" y="2190902"/>
            <a:ext cx="5143500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5429707"/>
            <a:ext cx="10668305" cy="1047902"/>
          </a:xfrm>
          <a:prstGeom prst="roundRect">
            <a:avLst>
              <a:gd name="adj" fmla="val 6346"/>
            </a:avLst>
          </a:prstGeom>
          <a:solidFill>
            <a:srgbClr val="F9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1695" y="5429707"/>
            <a:ext cx="75895" cy="1047902"/>
          </a:xfrm>
          <a:prstGeom prst="roundRect">
            <a:avLst>
              <a:gd name="adj" fmla="val 87623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6｜⑥施工中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47902" y="1485900"/>
            <a:ext cx="1438351" cy="352044"/>
          </a:xfrm>
          <a:prstGeom prst="roundRect">
            <a:avLst>
              <a:gd name="adj" fmla="val 56160"/>
            </a:avLst>
          </a:prstGeom>
          <a:solidFill>
            <a:srgbClr val="0F4C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7902" y="1485900"/>
            <a:ext cx="14383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フェーズ定義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6449" y="1495044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受注確定・施工進行中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902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62456" y="2381098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必要なアクション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047902" y="2447849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7902" y="29910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952598"/>
            <a:ext cx="762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施工管理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429000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390595"/>
            <a:ext cx="20866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キーストン社製品の使用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47902" y="3866998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3829507"/>
            <a:ext cx="1334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品質写真の撮影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572707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43954" y="2381098"/>
            <a:ext cx="1591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用意すべき書類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6572707" y="2447849"/>
            <a:ext cx="256946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72707" y="29910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31482" y="2952598"/>
            <a:ext cx="18864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施工管理チェックリスト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（工程・品質確認）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572707" y="36191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831482" y="3581705"/>
            <a:ext cx="2286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 製品使用確認書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（キーストン社製品の使用記録）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572707" y="424830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831482" y="4209898"/>
            <a:ext cx="21433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品質写真台帳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（施工中・施工後の記録写真）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572707" y="487649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831482" y="4839005"/>
            <a:ext cx="17547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施工日報</a:t>
            </a:r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（日次進捗）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5633618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【完了条件】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3010205" y="5619902"/>
            <a:ext cx="1810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施工完了・検査OK。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6062472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【次へのトリガー】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3010205" y="6048756"/>
            <a:ext cx="762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検査合格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10668305" cy="666598"/>
          </a:xfrm>
          <a:prstGeom prst="roundRect">
            <a:avLst>
              <a:gd name="adj" fmla="val 31354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2190902"/>
            <a:ext cx="5143500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0" y="2190902"/>
            <a:ext cx="5143500" cy="304769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5429707"/>
            <a:ext cx="10668305" cy="1047902"/>
          </a:xfrm>
          <a:prstGeom prst="roundRect">
            <a:avLst>
              <a:gd name="adj" fmla="val 6346"/>
            </a:avLst>
          </a:prstGeom>
          <a:solidFill>
            <a:srgbClr val="F9FBFC"/>
          </a:solidFill>
          <a:ln/>
        </p:spPr>
      </p:sp>
      <p:sp>
        <p:nvSpPr>
          <p:cNvPr id="10" name="Shape 7"/>
          <p:cNvSpPr/>
          <p:nvPr/>
        </p:nvSpPr>
        <p:spPr>
          <a:xfrm>
            <a:off x="761695" y="5429707"/>
            <a:ext cx="75895" cy="1047902"/>
          </a:xfrm>
          <a:prstGeom prst="roundRect">
            <a:avLst>
              <a:gd name="adj" fmla="val 87623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7｜⑦完了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47902" y="1485900"/>
            <a:ext cx="1438351" cy="352044"/>
          </a:xfrm>
          <a:prstGeom prst="roundRect">
            <a:avLst>
              <a:gd name="adj" fmla="val 56160"/>
            </a:avLst>
          </a:prstGeom>
          <a:solidFill>
            <a:srgbClr val="0F4C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7902" y="1485900"/>
            <a:ext cx="1438351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フェーズ定義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76449" y="1495044"/>
            <a:ext cx="1828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施工完了・入金済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902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90802" y="2381098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必要なアクション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7143" r="-7143" t="0" b="0"/>
          <a:stretch/>
        </p:blipFill>
        <p:spPr>
          <a:xfrm>
            <a:off x="1047902" y="2447849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47902" y="2991002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952598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完了報告書の提出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429000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390595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写真・保証書の送付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47902" y="3866998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3829507"/>
            <a:ext cx="2667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紹介依頼・次案件のヒアリング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572707" y="2790749"/>
            <a:ext cx="4572000" cy="1920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15607" y="2381098"/>
            <a:ext cx="1591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用意すべき書類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6250" b="-6250"/>
          <a:stretch/>
        </p:blipFill>
        <p:spPr>
          <a:xfrm>
            <a:off x="6572707" y="2447849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72707" y="289590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831482" y="2857500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完了報告書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（工事内容・使用材料・完了日）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572707" y="336773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831482" y="3330245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品質保証書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（キーストン社保証内容・期間）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572707" y="3840480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831482" y="3802075"/>
            <a:ext cx="24798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施工完了写真集</a:t>
            </a:r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（Before/After）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6572707" y="4202582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6831482" y="4164178"/>
            <a:ext cx="20281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請求書</a:t>
            </a:r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（最終金額・振込先）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6572707" y="4564685"/>
            <a:ext cx="152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6831482" y="4526280"/>
            <a:ext cx="20482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紹介依頼書/ヒアリングシート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（次案件の掘り起こし）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5633618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【完了条件】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2819095" y="5619902"/>
            <a:ext cx="1334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顧客満足確認。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1143000" y="6062472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【次へのトリガー】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2819095" y="604875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次案件紹介または終了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4762195"/>
            <a:ext cx="2857500" cy="2857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195" y="-476402"/>
            <a:ext cx="2381098" cy="2381098"/>
          </a:xfrm>
          <a:prstGeom prst="ellipse">
            <a:avLst/>
          </a:prstGeom>
          <a:solidFill>
            <a:srgbClr val="F9FB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095451"/>
            <a:ext cx="761695" cy="576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1524305"/>
            <a:ext cx="5219395" cy="1238098"/>
          </a:xfrm>
          <a:prstGeom prst="roundRect">
            <a:avLst>
              <a:gd name="adj" fmla="val 9090"/>
            </a:avLst>
          </a:prstGeom>
          <a:solidFill>
            <a:srgbClr val="F9FBFC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1695" y="1524305"/>
            <a:ext cx="75895" cy="1238098"/>
          </a:xfrm>
          <a:prstGeom prst="roundRect">
            <a:avLst>
              <a:gd name="adj" fmla="val 148286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3047695"/>
            <a:ext cx="5219395" cy="1238098"/>
          </a:xfrm>
          <a:prstGeom prst="roundRect">
            <a:avLst>
              <a:gd name="adj" fmla="val 9090"/>
            </a:avLst>
          </a:prstGeom>
          <a:solidFill>
            <a:srgbClr val="F9FBFC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3047695"/>
            <a:ext cx="75895" cy="1238098"/>
          </a:xfrm>
          <a:prstGeom prst="roundRect">
            <a:avLst>
              <a:gd name="adj" fmla="val 148286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1695" y="4572000"/>
            <a:ext cx="5219395" cy="1238098"/>
          </a:xfrm>
          <a:prstGeom prst="roundRect">
            <a:avLst>
              <a:gd name="adj" fmla="val 9090"/>
            </a:avLst>
          </a:prstGeom>
          <a:solidFill>
            <a:srgbClr val="F9FBFC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1695" y="4572000"/>
            <a:ext cx="75895" cy="1238098"/>
          </a:xfrm>
          <a:prstGeom prst="roundRect">
            <a:avLst>
              <a:gd name="adj" fmla="val 148286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86500" y="1524305"/>
            <a:ext cx="5219395" cy="1238098"/>
          </a:xfrm>
          <a:prstGeom prst="roundRect">
            <a:avLst>
              <a:gd name="adj" fmla="val 9090"/>
            </a:avLst>
          </a:prstGeom>
          <a:solidFill>
            <a:srgbClr val="F9FBFC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86500" y="1524305"/>
            <a:ext cx="75895" cy="1238098"/>
          </a:xfrm>
          <a:prstGeom prst="roundRect">
            <a:avLst>
              <a:gd name="adj" fmla="val 148286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86500" y="3047695"/>
            <a:ext cx="5219395" cy="1238098"/>
          </a:xfrm>
          <a:prstGeom prst="roundRect">
            <a:avLst>
              <a:gd name="adj" fmla="val 9090"/>
            </a:avLst>
          </a:prstGeom>
          <a:solidFill>
            <a:srgbClr val="F9FBFC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86500" y="3047695"/>
            <a:ext cx="75895" cy="1238098"/>
          </a:xfrm>
          <a:prstGeom prst="roundRect">
            <a:avLst>
              <a:gd name="adj" fmla="val 148286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86500" y="4572000"/>
            <a:ext cx="5219395" cy="1238098"/>
          </a:xfrm>
          <a:prstGeom prst="roundRect">
            <a:avLst>
              <a:gd name="adj" fmla="val 9090"/>
            </a:avLst>
          </a:prstGeom>
          <a:solidFill>
            <a:srgbClr val="F9FBFC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86500" y="4572000"/>
            <a:ext cx="75895" cy="1238098"/>
          </a:xfrm>
          <a:prstGeom prst="roundRect">
            <a:avLst>
              <a:gd name="adj" fmla="val 148286"/>
            </a:avLst>
          </a:prstGeom>
          <a:solidFill>
            <a:srgbClr val="0F4C81"/>
          </a:solidFill>
          <a:ln w="12700">
            <a:solidFill>
              <a:srgbClr val="0F4C81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1695" y="476402"/>
            <a:ext cx="7620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重要書類一覧（★マーク）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1714500" y="1000354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各ステップにおいて必須となる重要書類のまとめ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171450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204825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提案中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361895" y="1714500"/>
            <a:ext cx="962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XOP提案書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305202" y="2066544"/>
            <a:ext cx="140360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ROI試算シート</a:t>
            </a:r>
            <a:endParaRPr lang="en-US" sz="15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42" b="-842"/>
          <a:stretch/>
        </p:blipFill>
        <p:spPr>
          <a:xfrm>
            <a:off x="2095805" y="1778508"/>
            <a:ext cx="190195" cy="171907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2095805" y="2131466"/>
            <a:ext cx="133502" cy="17190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47902" y="3238805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047902" y="357164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見積提出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2305202" y="3238805"/>
            <a:ext cx="571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見積書</a:t>
            </a:r>
            <a:endParaRPr lang="en-US" sz="15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2095805" y="3302813"/>
            <a:ext cx="133502" cy="17190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47902" y="4762195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047902" y="5095951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交渉中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2361895" y="4762195"/>
            <a:ext cx="952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修正見積書</a:t>
            </a:r>
            <a:endParaRPr lang="en-US" sz="15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2095805" y="4827118"/>
            <a:ext cx="190195" cy="17190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572707" y="1714500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5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6572707" y="204825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FIX直前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830007" y="1714500"/>
            <a:ext cx="1257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契約書（2部）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7848295" y="2066544"/>
            <a:ext cx="1705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工程スケジュール表</a:t>
            </a:r>
            <a:endParaRPr lang="en-US" sz="15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7619695" y="1778508"/>
            <a:ext cx="133502" cy="171907"/>
          </a:xfrm>
          <a:prstGeom prst="rect">
            <a:avLst/>
          </a:prstGeom>
        </p:spPr>
      </p:pic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-760" r="-760" t="0" b="0"/>
          <a:stretch/>
        </p:blipFill>
        <p:spPr>
          <a:xfrm>
            <a:off x="7619695" y="2131466"/>
            <a:ext cx="152705" cy="171907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572707" y="3238805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6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6572707" y="357164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施工中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7830007" y="3238805"/>
            <a:ext cx="1334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製品使用確認書</a:t>
            </a:r>
            <a:endParaRPr lang="en-US" sz="15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-1773" r="-1773" t="0" b="0"/>
          <a:stretch/>
        </p:blipFill>
        <p:spPr>
          <a:xfrm>
            <a:off x="7619695" y="3302813"/>
            <a:ext cx="133502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572707" y="4762195"/>
            <a:ext cx="952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7</a:t>
            </a:r>
            <a:endParaRPr lang="en-US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6572707" y="5095951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7886700" y="4667098"/>
            <a:ext cx="952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完了報告書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7867498" y="5020056"/>
            <a:ext cx="952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品質保証書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7830007" y="5372100"/>
            <a:ext cx="571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請求書</a:t>
            </a:r>
            <a:endParaRPr lang="en-US" sz="15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42" b="-842"/>
          <a:stretch/>
        </p:blipFill>
        <p:spPr>
          <a:xfrm>
            <a:off x="7619695" y="4731106"/>
            <a:ext cx="190195" cy="171907"/>
          </a:xfrm>
          <a:prstGeom prst="rect">
            <a:avLst/>
          </a:prstGeom>
        </p:spPr>
      </p:pic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619695" y="5084064"/>
            <a:ext cx="171907" cy="171907"/>
          </a:xfrm>
          <a:prstGeom prst="rect">
            <a:avLst/>
          </a:prstGeom>
        </p:spPr>
      </p:pic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-1773" r="-1773" t="0" b="0"/>
          <a:stretch/>
        </p:blipFill>
        <p:spPr>
          <a:xfrm>
            <a:off x="7619695" y="5436108"/>
            <a:ext cx="133502" cy="1719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2026-05-10T11:13:15Z</dcterms:created>
  <dcterms:modified xsi:type="dcterms:W3CDTF">2026-05-10T11:13:15Z</dcterms:modified>
</cp:coreProperties>
</file>