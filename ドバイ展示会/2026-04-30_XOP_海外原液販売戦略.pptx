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>
        <p:scale>
          <a:sx n="108" d="100"/>
          <a:sy n="108" d="100"/>
        </p:scale>
        <p:origin x="152" y="4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MM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BC4A3-12AB-0840-8EBA-2D06F6511373}" type="datetimeFigureOut">
              <a:rPr kumimoji="1" lang="ja-MM" altLang="en-US" smtClean="0"/>
              <a:t>2026/04/30</a:t>
            </a:fld>
            <a:endParaRPr kumimoji="1" lang="ja-MM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MM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MM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MM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0E69F-3153-7F48-955E-1CE179BE51B3}" type="slidenum">
              <a:rPr kumimoji="1" lang="ja-MM" altLang="en-US" smtClean="0"/>
              <a:t>‹#›</a:t>
            </a:fld>
            <a:endParaRPr kumimoji="1" lang="ja-MM" altLang="en-US"/>
          </a:p>
        </p:txBody>
      </p:sp>
    </p:spTree>
    <p:extLst>
      <p:ext uri="{BB962C8B-B14F-4D97-AF65-F5344CB8AC3E}">
        <p14:creationId xmlns:p14="http://schemas.microsoft.com/office/powerpoint/2010/main" val="1424811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MM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0E69F-3153-7F48-955E-1CE179BE51B3}" type="slidenum">
              <a:rPr kumimoji="1" lang="ja-MM" altLang="en-US" smtClean="0"/>
              <a:t>1</a:t>
            </a:fld>
            <a:endParaRPr kumimoji="1" lang="ja-MM" altLang="en-US"/>
          </a:p>
        </p:txBody>
      </p:sp>
    </p:spTree>
    <p:extLst>
      <p:ext uri="{BB962C8B-B14F-4D97-AF65-F5344CB8AC3E}">
        <p14:creationId xmlns:p14="http://schemas.microsoft.com/office/powerpoint/2010/main" val="1878048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MM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0E69F-3153-7F48-955E-1CE179BE51B3}" type="slidenum">
              <a:rPr kumimoji="1" lang="ja-MM" altLang="en-US" smtClean="0"/>
              <a:t>9</a:t>
            </a:fld>
            <a:endParaRPr kumimoji="1" lang="ja-MM" altLang="en-US"/>
          </a:p>
        </p:txBody>
      </p:sp>
    </p:spTree>
    <p:extLst>
      <p:ext uri="{BB962C8B-B14F-4D97-AF65-F5344CB8AC3E}">
        <p14:creationId xmlns:p14="http://schemas.microsoft.com/office/powerpoint/2010/main" val="775881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8052" y="1438287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XOP 海外原液販売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9A84C"/>
                </a:solidFill>
              </a:rPr>
              <a:t>海外展開戦略と実行計画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5029200"/>
            <a:ext cx="1554480" cy="411480"/>
          </a:xfrm>
          <a:prstGeom prst="rect">
            <a:avLst/>
          </a:prstGeom>
          <a:solidFill>
            <a:srgbClr val="2A3A60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5047488"/>
            <a:ext cx="1463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MM" sz="2000" b="0" i="0" dirty="0">
                <a:solidFill>
                  <a:srgbClr val="C9A84C"/>
                </a:solidFill>
              </a:rPr>
              <a:t>KICHI</a:t>
            </a:r>
            <a:endParaRPr sz="2000" b="0" i="0" dirty="0">
              <a:solidFill>
                <a:srgbClr val="C9A84C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0" y="5029200"/>
            <a:ext cx="1554480" cy="411480"/>
          </a:xfrm>
          <a:prstGeom prst="rect">
            <a:avLst/>
          </a:prstGeom>
          <a:solidFill>
            <a:srgbClr val="2A3A60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32120" y="5057000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C9A84C"/>
                </a:solidFill>
              </a:rPr>
              <a:t>Crux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5029200"/>
            <a:ext cx="1554480" cy="411480"/>
          </a:xfrm>
          <a:prstGeom prst="rect">
            <a:avLst/>
          </a:prstGeom>
          <a:solidFill>
            <a:srgbClr val="2A3A60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8040" y="5047488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C9A84C"/>
                </a:solidFill>
              </a:rP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前提整理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1325880"/>
            <a:ext cx="3474720" cy="5120640"/>
          </a:xfrm>
          <a:prstGeom prst="rect">
            <a:avLst/>
          </a:prstGeom>
          <a:solidFill>
            <a:srgbClr val="F4F6FA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463040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6888" y="1325880"/>
            <a:ext cx="347472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13898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① </a:t>
            </a:r>
            <a:r>
              <a:rPr sz="1400" b="1" i="0" dirty="0" err="1">
                <a:solidFill>
                  <a:srgbClr val="FFFFFF"/>
                </a:solidFill>
              </a:rPr>
              <a:t>販売対象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" y="2103120"/>
            <a:ext cx="3108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444455"/>
                </a:solidFill>
              </a:rPr>
              <a:t>全方位ではなく</a:t>
            </a:r>
            <a:r>
              <a:rPr sz="1600" b="0" i="0" dirty="0">
                <a:solidFill>
                  <a:srgbClr val="444455"/>
                </a:solidFill>
              </a:rPr>
              <a:t>
</a:t>
            </a:r>
            <a:r>
              <a:rPr sz="1600" b="0" i="0" dirty="0" err="1">
                <a:solidFill>
                  <a:srgbClr val="444455"/>
                </a:solidFill>
              </a:rPr>
              <a:t>目星のある</a:t>
            </a:r>
            <a:r>
              <a:rPr sz="1600" b="1" i="0" dirty="0" err="1">
                <a:solidFill>
                  <a:srgbClr val="444455"/>
                </a:solidFill>
              </a:rPr>
              <a:t>特定バイヤーへの</a:t>
            </a:r>
            <a:r>
              <a:rPr sz="1600" b="1" i="0" dirty="0">
                <a:solidFill>
                  <a:srgbClr val="444455"/>
                </a:solidFill>
              </a:rPr>
              <a:t>
</a:t>
            </a:r>
            <a:r>
              <a:rPr sz="1600" b="1" i="0" dirty="0" err="1">
                <a:solidFill>
                  <a:srgbClr val="444455"/>
                </a:solidFill>
              </a:rPr>
              <a:t>直接販売</a:t>
            </a:r>
            <a:endParaRPr sz="1600" b="1" i="0" dirty="0">
              <a:solidFill>
                <a:srgbClr val="444455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68496" y="1325880"/>
            <a:ext cx="3474720" cy="5120640"/>
          </a:xfrm>
          <a:prstGeom prst="rect">
            <a:avLst/>
          </a:prstGeom>
          <a:solidFill>
            <a:srgbClr val="F4F6FA"/>
          </a:solidFill>
          <a:ln w="1905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05656" y="1463040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68496" y="1325880"/>
            <a:ext cx="347472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9936" y="13898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② 独占代理権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2103120"/>
            <a:ext cx="3108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444455"/>
                </a:solidFill>
              </a:rPr>
              <a:t>キーストン社より</a:t>
            </a:r>
            <a:r>
              <a:rPr sz="1600" b="0" i="0" dirty="0">
                <a:solidFill>
                  <a:srgbClr val="444455"/>
                </a:solidFill>
              </a:rPr>
              <a:t>
</a:t>
            </a:r>
            <a:r>
              <a:rPr sz="1600" b="1" i="0" dirty="0" err="1">
                <a:solidFill>
                  <a:srgbClr val="444455"/>
                </a:solidFill>
              </a:rPr>
              <a:t>海外販売の独占権取得済み</a:t>
            </a:r>
            <a:r>
              <a:rPr sz="1600" b="0" i="0" dirty="0">
                <a:solidFill>
                  <a:srgbClr val="444455"/>
                </a:solidFill>
              </a:rPr>
              <a:t>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0104" y="1325880"/>
            <a:ext cx="3474720" cy="5120640"/>
          </a:xfrm>
          <a:prstGeom prst="rect">
            <a:avLst/>
          </a:prstGeom>
          <a:solidFill>
            <a:srgbClr val="F4F6FA"/>
          </a:solidFill>
          <a:ln w="19050">
            <a:solidFill>
              <a:srgbClr val="D0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27264" y="1463040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90104" y="1325880"/>
            <a:ext cx="347472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81544" y="13898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③ 特許なし（意図的）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2984" y="2103120"/>
            <a:ext cx="3108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D02B2B"/>
                </a:solidFill>
              </a:rPr>
              <a:t>成分開示を避ける</a:t>
            </a:r>
            <a:r>
              <a:rPr sz="1600" b="1" i="0" dirty="0">
                <a:solidFill>
                  <a:srgbClr val="D02B2B"/>
                </a:solidFill>
              </a:rPr>
              <a:t>
</a:t>
            </a:r>
            <a:r>
              <a:rPr sz="1600" b="1" i="0" dirty="0" err="1">
                <a:solidFill>
                  <a:srgbClr val="D02B2B"/>
                </a:solidFill>
              </a:rPr>
              <a:t>トレードシークレット戦略</a:t>
            </a:r>
            <a:r>
              <a:rPr sz="1600" b="1" i="0" dirty="0">
                <a:solidFill>
                  <a:srgbClr val="D02B2B"/>
                </a:solidFill>
              </a:rPr>
              <a:t>
→ </a:t>
            </a:r>
            <a:r>
              <a:rPr sz="1600" b="1" i="0" dirty="0" err="1">
                <a:solidFill>
                  <a:srgbClr val="D02B2B"/>
                </a:solidFill>
              </a:rPr>
              <a:t>NDAが唯一の</a:t>
            </a:r>
            <a:r>
              <a:rPr sz="1600" b="1" i="0" dirty="0">
                <a:solidFill>
                  <a:srgbClr val="D02B2B"/>
                </a:solidFill>
              </a:rPr>
              <a:t>
</a:t>
            </a:r>
            <a:r>
              <a:rPr sz="1600" b="1" i="0" dirty="0" err="1">
                <a:solidFill>
                  <a:srgbClr val="D02B2B"/>
                </a:solidFill>
              </a:rPr>
              <a:t>ノウハウ保護手段</a:t>
            </a:r>
            <a:endParaRPr sz="1600" b="1" i="0" dirty="0">
              <a:solidFill>
                <a:srgbClr val="D02B2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ビジネスモデル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0" cy="530352"/>
          </a:xfrm>
          <a:prstGeom prst="rect">
            <a:avLst/>
          </a:prstGeom>
          <a:solidFill>
            <a:srgbClr val="E8EEF8"/>
          </a:solidFill>
          <a:ln w="19050"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3560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2744"/>
                </a:solidFill>
              </a:rPr>
              <a:t>キーストン社（製造）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A84C"/>
                </a:solidFill>
              </a:rPr>
              <a:t>独占代理権（取得済み）↓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59152"/>
            <a:ext cx="5029200" cy="530352"/>
          </a:xfrm>
          <a:prstGeom prst="rect">
            <a:avLst/>
          </a:prstGeom>
          <a:solidFill>
            <a:srgbClr val="1A2744"/>
          </a:solidFill>
          <a:ln w="19050"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我々 Crux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923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A84C"/>
                </a:solidFill>
              </a:rPr>
              <a:t>原液販売 $5,000/L 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46704"/>
            <a:ext cx="5029200" cy="530352"/>
          </a:xfrm>
          <a:prstGeom prst="rect">
            <a:avLst/>
          </a:prstGeom>
          <a:solidFill>
            <a:srgbClr val="E8EEF8"/>
          </a:solidFill>
          <a:ln w="19050"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41071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2744"/>
                </a:solidFill>
              </a:rPr>
              <a:t>特定バイヤー（目星あり）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8678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A84C"/>
                </a:solidFill>
              </a:rPr>
              <a:t>施工・販売・FC展開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34256"/>
            <a:ext cx="5029200" cy="530352"/>
          </a:xfrm>
          <a:prstGeom prst="rect">
            <a:avLst/>
          </a:prstGeom>
          <a:solidFill>
            <a:srgbClr val="E8EEF8"/>
          </a:solidFill>
          <a:ln w="19050"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398264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2744"/>
                </a:solidFill>
              </a:rPr>
              <a:t>エンドユーザー / sub-FC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371600"/>
            <a:ext cx="6126480" cy="52120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0" y="15087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</a:rPr>
              <a:t>収益メトリクス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103120"/>
            <a:ext cx="5669280" cy="777240"/>
          </a:xfrm>
          <a:prstGeom prst="rect">
            <a:avLst/>
          </a:prstGeom>
          <a:solidFill>
            <a:srgbClr val="25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</a:rPr>
              <a:t>仕入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148840"/>
            <a:ext cx="393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</a:rPr>
              <a:t>約</a:t>
            </a:r>
            <a:r>
              <a:rPr sz="2000" b="1" i="0" dirty="0">
                <a:solidFill>
                  <a:srgbClr val="FFFFFF"/>
                </a:solidFill>
              </a:rPr>
              <a:t> 11万円 / 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3017520"/>
            <a:ext cx="5669280" cy="777240"/>
          </a:xfrm>
          <a:prstGeom prst="rect">
            <a:avLst/>
          </a:prstGeom>
          <a:solidFill>
            <a:srgbClr val="25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</a:rPr>
              <a:t>販売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063240"/>
            <a:ext cx="393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$5,000 / L（約75万円）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931920"/>
            <a:ext cx="5669280" cy="777240"/>
          </a:xfrm>
          <a:prstGeom prst="rect">
            <a:avLst/>
          </a:prstGeom>
          <a:solidFill>
            <a:srgbClr val="25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</a:rPr>
              <a:t>利益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977640"/>
            <a:ext cx="393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約 50万円 / 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4846320"/>
            <a:ext cx="5669280" cy="777240"/>
          </a:xfrm>
          <a:prstGeom prst="rect">
            <a:avLst/>
          </a:prstGeom>
          <a:solidFill>
            <a:srgbClr val="25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</a:rPr>
              <a:t>在庫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892040"/>
            <a:ext cx="393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40 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5852160"/>
            <a:ext cx="6126480" cy="685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60720" y="6010376"/>
            <a:ext cx="612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1A2744"/>
                </a:solidFill>
              </a:rPr>
              <a:t>最大利益ポテンシャル</a:t>
            </a:r>
            <a:r>
              <a:rPr sz="2000" b="1" i="0" dirty="0">
                <a:solidFill>
                  <a:srgbClr val="1A2744"/>
                </a:solidFill>
              </a:rPr>
              <a:t>　2,000万円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販売前に準備するもの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5382" y="1801368"/>
            <a:ext cx="3840480" cy="48463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1138534" y="1892808"/>
            <a:ext cx="3749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準備物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1582" y="1801368"/>
            <a:ext cx="2194560" cy="48463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5024734" y="1892808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状況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1862" y="1801368"/>
            <a:ext cx="2560320" cy="48463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7265014" y="1892808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担当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97902" y="1801368"/>
            <a:ext cx="1463040" cy="48463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9871054" y="1892808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期限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5382" y="2286000"/>
            <a:ext cx="384048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4951582" y="2286000"/>
            <a:ext cx="219456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7191862" y="2286000"/>
            <a:ext cx="256032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9797902" y="2286000"/>
            <a:ext cx="146304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1138534" y="2359152"/>
            <a:ext cx="3749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NDA（秘密保持契約）英語版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4734" y="2377440"/>
            <a:ext cx="2048256" cy="301752"/>
          </a:xfrm>
          <a:prstGeom prst="rect">
            <a:avLst/>
          </a:prstGeom>
          <a:solidFill>
            <a:srgbClr val="D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5043022" y="2395728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未作成【最優先】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5014" y="237744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宮脇＋弁護士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1054" y="2377440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2週間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5382" y="2770632"/>
            <a:ext cx="38404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4951582" y="2770632"/>
            <a:ext cx="2194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7191862" y="2770632"/>
            <a:ext cx="2560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Rectangle 25"/>
          <p:cNvSpPr/>
          <p:nvPr/>
        </p:nvSpPr>
        <p:spPr>
          <a:xfrm>
            <a:off x="9797902" y="2770632"/>
            <a:ext cx="14630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1138534" y="2843784"/>
            <a:ext cx="3749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原液販売契約書 英語版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4734" y="2862072"/>
            <a:ext cx="2048256" cy="301752"/>
          </a:xfrm>
          <a:prstGeom prst="rect">
            <a:avLst/>
          </a:prstGeom>
          <a:solidFill>
            <a:srgbClr val="E8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5043022" y="2880360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未作成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5014" y="2862072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宮脇＋弁護士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1054" y="286207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2週間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5382" y="3255264"/>
            <a:ext cx="384048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ectangle 32"/>
          <p:cNvSpPr/>
          <p:nvPr/>
        </p:nvSpPr>
        <p:spPr>
          <a:xfrm>
            <a:off x="4951582" y="3255264"/>
            <a:ext cx="219456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ectangle 33"/>
          <p:cNvSpPr/>
          <p:nvPr/>
        </p:nvSpPr>
        <p:spPr>
          <a:xfrm>
            <a:off x="7191862" y="3255264"/>
            <a:ext cx="256032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Rectangle 34"/>
          <p:cNvSpPr/>
          <p:nvPr/>
        </p:nvSpPr>
        <p:spPr>
          <a:xfrm>
            <a:off x="9797902" y="3255264"/>
            <a:ext cx="146304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1138534" y="3328416"/>
            <a:ext cx="3749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英語版TDS（技術仕様書）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4734" y="3346704"/>
            <a:ext cx="2048256" cy="30175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5043022" y="3364992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70% 作成可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5014" y="3346704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宮脇＋AI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1054" y="3346704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1週間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5382" y="3739896"/>
            <a:ext cx="38404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Rectangle 41"/>
          <p:cNvSpPr/>
          <p:nvPr/>
        </p:nvSpPr>
        <p:spPr>
          <a:xfrm>
            <a:off x="4951582" y="3739896"/>
            <a:ext cx="2194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Rectangle 42"/>
          <p:cNvSpPr/>
          <p:nvPr/>
        </p:nvSpPr>
        <p:spPr>
          <a:xfrm>
            <a:off x="7191862" y="3739896"/>
            <a:ext cx="2560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Rectangle 43"/>
          <p:cNvSpPr/>
          <p:nvPr/>
        </p:nvSpPr>
        <p:spPr>
          <a:xfrm>
            <a:off x="9797902" y="3739896"/>
            <a:ext cx="14630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1138534" y="3813048"/>
            <a:ext cx="3749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英語版SDS（安全データシート）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4734" y="3831336"/>
            <a:ext cx="2048256" cy="301752"/>
          </a:xfrm>
          <a:prstGeom prst="rect">
            <a:avLst/>
          </a:prstGeom>
          <a:solidFill>
            <a:srgbClr val="663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5043022" y="3849624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キーストンから取得必要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5014" y="3831336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吉岡→キーストン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1054" y="3831336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02B2B"/>
                </a:solidFill>
              </a:rPr>
              <a:t>要確認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5382" y="4224528"/>
            <a:ext cx="384048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Rectangle 50"/>
          <p:cNvSpPr/>
          <p:nvPr/>
        </p:nvSpPr>
        <p:spPr>
          <a:xfrm>
            <a:off x="4951582" y="4224528"/>
            <a:ext cx="219456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Rectangle 51"/>
          <p:cNvSpPr/>
          <p:nvPr/>
        </p:nvSpPr>
        <p:spPr>
          <a:xfrm>
            <a:off x="7191862" y="4224528"/>
            <a:ext cx="256032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Rectangle 52"/>
          <p:cNvSpPr/>
          <p:nvPr/>
        </p:nvSpPr>
        <p:spPr>
          <a:xfrm>
            <a:off x="9797902" y="4224528"/>
            <a:ext cx="146304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4" name="TextBox 53"/>
          <p:cNvSpPr txBox="1"/>
          <p:nvPr/>
        </p:nvSpPr>
        <p:spPr>
          <a:xfrm>
            <a:off x="1138534" y="4297680"/>
            <a:ext cx="3749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価格・最小ロット・支払い条件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4734" y="4315968"/>
            <a:ext cx="2048256" cy="301752"/>
          </a:xfrm>
          <a:prstGeom prst="rect">
            <a:avLst/>
          </a:prstGeom>
          <a:solidFill>
            <a:srgbClr val="D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5043022" y="4334256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未確定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5014" y="4315968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吉岡＋宮脇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1054" y="4315968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02B2B"/>
                </a:solidFill>
              </a:rPr>
              <a:t>即日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5382" y="4709160"/>
            <a:ext cx="38404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0" name="Rectangle 59"/>
          <p:cNvSpPr/>
          <p:nvPr/>
        </p:nvSpPr>
        <p:spPr>
          <a:xfrm>
            <a:off x="4951582" y="4709160"/>
            <a:ext cx="2194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1" name="Rectangle 60"/>
          <p:cNvSpPr/>
          <p:nvPr/>
        </p:nvSpPr>
        <p:spPr>
          <a:xfrm>
            <a:off x="7191862" y="4709160"/>
            <a:ext cx="2560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Rectangle 61"/>
          <p:cNvSpPr/>
          <p:nvPr/>
        </p:nvSpPr>
        <p:spPr>
          <a:xfrm>
            <a:off x="9797902" y="4709160"/>
            <a:ext cx="14630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3" name="TextBox 62"/>
          <p:cNvSpPr txBox="1"/>
          <p:nvPr/>
        </p:nvSpPr>
        <p:spPr>
          <a:xfrm>
            <a:off x="1138534" y="4782312"/>
            <a:ext cx="3749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英語版見積書フォーマット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4734" y="4800600"/>
            <a:ext cx="2048256" cy="301752"/>
          </a:xfrm>
          <a:prstGeom prst="rect">
            <a:avLst/>
          </a:prstGeom>
          <a:solidFill>
            <a:srgbClr val="E8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5043022" y="4818888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未作成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65014" y="480060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宮脇＋AI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1054" y="4800600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2〜3日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5382" y="5193792"/>
            <a:ext cx="384048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9" name="Rectangle 68"/>
          <p:cNvSpPr/>
          <p:nvPr/>
        </p:nvSpPr>
        <p:spPr>
          <a:xfrm>
            <a:off x="4951582" y="5193792"/>
            <a:ext cx="219456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0" name="Rectangle 69"/>
          <p:cNvSpPr/>
          <p:nvPr/>
        </p:nvSpPr>
        <p:spPr>
          <a:xfrm>
            <a:off x="7191862" y="5193792"/>
            <a:ext cx="256032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1" name="Rectangle 70"/>
          <p:cNvSpPr/>
          <p:nvPr/>
        </p:nvSpPr>
        <p:spPr>
          <a:xfrm>
            <a:off x="9797902" y="5193792"/>
            <a:ext cx="1463040" cy="4846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2" name="TextBox 71"/>
          <p:cNvSpPr txBox="1"/>
          <p:nvPr/>
        </p:nvSpPr>
        <p:spPr>
          <a:xfrm>
            <a:off x="1138534" y="5266944"/>
            <a:ext cx="3749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輸出規制確認（市場ごと）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4734" y="5285232"/>
            <a:ext cx="2048256" cy="3017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4" name="TextBox 73"/>
          <p:cNvSpPr txBox="1"/>
          <p:nvPr/>
        </p:nvSpPr>
        <p:spPr>
          <a:xfrm>
            <a:off x="5043022" y="5303520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未確認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65014" y="5285232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宮脇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71054" y="528523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1〜2週間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65382" y="5678424"/>
            <a:ext cx="38404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8" name="Rectangle 77"/>
          <p:cNvSpPr/>
          <p:nvPr/>
        </p:nvSpPr>
        <p:spPr>
          <a:xfrm>
            <a:off x="4951582" y="5678424"/>
            <a:ext cx="2194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9" name="Rectangle 78"/>
          <p:cNvSpPr/>
          <p:nvPr/>
        </p:nvSpPr>
        <p:spPr>
          <a:xfrm>
            <a:off x="7191862" y="5678424"/>
            <a:ext cx="2560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0" name="Rectangle 79"/>
          <p:cNvSpPr/>
          <p:nvPr/>
        </p:nvSpPr>
        <p:spPr>
          <a:xfrm>
            <a:off x="9797902" y="5678424"/>
            <a:ext cx="14630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1" name="TextBox 80"/>
          <p:cNvSpPr txBox="1"/>
          <p:nvPr/>
        </p:nvSpPr>
        <p:spPr>
          <a:xfrm>
            <a:off x="1138534" y="5751576"/>
            <a:ext cx="3749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物流・送金手配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4734" y="5769864"/>
            <a:ext cx="2048256" cy="3017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3" name="TextBox 82"/>
          <p:cNvSpPr txBox="1"/>
          <p:nvPr/>
        </p:nvSpPr>
        <p:spPr>
          <a:xfrm>
            <a:off x="5043022" y="5788152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未整備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65014" y="5769864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宮脇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71054" y="5769864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1〜2週間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i="0">
                <a:solidFill>
                  <a:srgbClr val="FFFFFF"/>
                </a:solidFill>
              </a:rPr>
              <a:t>リスクと対策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371600"/>
            <a:ext cx="11823192" cy="914400"/>
          </a:xfrm>
          <a:prstGeom prst="rect">
            <a:avLst/>
          </a:prstGeom>
          <a:solidFill>
            <a:srgbClr val="FFEEEE"/>
          </a:solidFill>
          <a:ln w="19050">
            <a:solidFill>
              <a:srgbClr val="D0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182880" y="1371600"/>
            <a:ext cx="1097280" cy="914400"/>
          </a:xfrm>
          <a:prstGeom prst="rect">
            <a:avLst/>
          </a:prstGeom>
          <a:solidFill>
            <a:srgbClr val="D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228600" y="1417320"/>
            <a:ext cx="100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1732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i="0">
                <a:solidFill>
                  <a:srgbClr val="D02B2B"/>
                </a:solidFill>
              </a:rPr>
              <a:t>ノウハウ流出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28800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 dirty="0" err="1">
                <a:solidFill>
                  <a:srgbClr val="444455"/>
                </a:solidFill>
              </a:rPr>
              <a:t>特許なし＝NDAが唯一の盾</a:t>
            </a:r>
            <a:endParaRPr sz="1200" i="1" dirty="0">
              <a:solidFill>
                <a:srgbClr val="444455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9039" y="15544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0">
                <a:solidFill>
                  <a:srgbClr val="444455"/>
                </a:solidFill>
              </a:rPr>
              <a:t>対策：NDA必須締結・違反時の損害賠償条項を明記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377440"/>
            <a:ext cx="11823192" cy="914400"/>
          </a:xfrm>
          <a:prstGeom prst="rect">
            <a:avLst/>
          </a:prstGeom>
          <a:solidFill>
            <a:srgbClr val="FFEEEE"/>
          </a:solidFill>
          <a:ln w="19050">
            <a:solidFill>
              <a:srgbClr val="D0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182880" y="2377440"/>
            <a:ext cx="1097280" cy="914400"/>
          </a:xfrm>
          <a:prstGeom prst="rect">
            <a:avLst/>
          </a:prstGeom>
          <a:solidFill>
            <a:srgbClr val="D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228600" y="2423160"/>
            <a:ext cx="100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2316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i="0">
                <a:solidFill>
                  <a:srgbClr val="D02B2B"/>
                </a:solidFill>
              </a:rPr>
              <a:t>代金未回収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3464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444455"/>
                </a:solidFill>
              </a:rPr>
              <a:t>海外送金リスク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56032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0">
                <a:solidFill>
                  <a:srgbClr val="444455"/>
                </a:solidFill>
              </a:rPr>
              <a:t>対策：前払い100%を原則　/　信用状（L/C）対応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383280"/>
            <a:ext cx="11823192" cy="914400"/>
          </a:xfrm>
          <a:prstGeom prst="rect">
            <a:avLst/>
          </a:prstGeom>
          <a:solidFill>
            <a:srgbClr val="FFF8E8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ectangle 18"/>
          <p:cNvSpPr/>
          <p:nvPr/>
        </p:nvSpPr>
        <p:spPr>
          <a:xfrm>
            <a:off x="182880" y="3383280"/>
            <a:ext cx="1097280" cy="914400"/>
          </a:xfrm>
          <a:prstGeom prst="rect">
            <a:avLst/>
          </a:prstGeom>
          <a:solidFill>
            <a:srgbClr val="E8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228600" y="3429000"/>
            <a:ext cx="100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0">
                <a:solidFill>
                  <a:srgbClr val="FFFFFF"/>
                </a:solidFill>
              </a:rPr>
              <a:t>★★☆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42900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i="0">
                <a:solidFill>
                  <a:srgbClr val="E87B00"/>
                </a:solidFill>
              </a:rPr>
              <a:t>品質クレーム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84048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444455"/>
                </a:solidFill>
              </a:rPr>
              <a:t>施工不良による評判毀損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56616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0">
                <a:solidFill>
                  <a:srgbClr val="444455"/>
                </a:solidFill>
              </a:rPr>
              <a:t>対策：施工マニュアル提供＋「施工品質は買主責任」を契約に明記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389120"/>
            <a:ext cx="11823192" cy="914400"/>
          </a:xfrm>
          <a:prstGeom prst="rect">
            <a:avLst/>
          </a:prstGeom>
          <a:solidFill>
            <a:srgbClr val="FFF8E8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182880" y="4389120"/>
            <a:ext cx="1097280" cy="914400"/>
          </a:xfrm>
          <a:prstGeom prst="rect">
            <a:avLst/>
          </a:prstGeom>
          <a:solidFill>
            <a:srgbClr val="E8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228600" y="4434840"/>
            <a:ext cx="100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0">
                <a:solidFill>
                  <a:srgbClr val="FFFFFF"/>
                </a:solidFill>
              </a:rPr>
              <a:t>★★☆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43484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i="0">
                <a:solidFill>
                  <a:srgbClr val="E87B00"/>
                </a:solidFill>
              </a:rPr>
              <a:t>輸出規制違反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84632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444455"/>
                </a:solidFill>
              </a:rPr>
              <a:t>各国化学物質規制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57200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0">
                <a:solidFill>
                  <a:srgbClr val="444455"/>
                </a:solidFill>
              </a:rPr>
              <a:t>対策：ドバイ・ハワイの規制を事前確認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5394960"/>
            <a:ext cx="11823192" cy="914400"/>
          </a:xfrm>
          <a:prstGeom prst="rect">
            <a:avLst/>
          </a:prstGeom>
          <a:solidFill>
            <a:srgbClr val="FFF8E8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ectangle 30"/>
          <p:cNvSpPr/>
          <p:nvPr/>
        </p:nvSpPr>
        <p:spPr>
          <a:xfrm>
            <a:off x="182880" y="5394960"/>
            <a:ext cx="1097280" cy="914400"/>
          </a:xfrm>
          <a:prstGeom prst="rect">
            <a:avLst/>
          </a:prstGeom>
          <a:solidFill>
            <a:srgbClr val="E8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228600" y="5440680"/>
            <a:ext cx="100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0">
                <a:solidFill>
                  <a:srgbClr val="FFFFFF"/>
                </a:solidFill>
              </a:rPr>
              <a:t>★★☆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44068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i="0">
                <a:solidFill>
                  <a:srgbClr val="E87B00"/>
                </a:solidFill>
              </a:rPr>
              <a:t>輸送中の変質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85216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444455"/>
                </a:solidFill>
              </a:rPr>
              <a:t>液剤の品質劣化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557784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0">
                <a:solidFill>
                  <a:srgbClr val="444455"/>
                </a:solidFill>
              </a:rPr>
              <a:t>対策：保管・輸送条件をキーストンに確認。適切な梱包指定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Todo・担当・期限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325880"/>
            <a:ext cx="3819020" cy="5212080"/>
          </a:xfrm>
          <a:prstGeom prst="rect">
            <a:avLst/>
          </a:prstGeom>
          <a:solidFill>
            <a:srgbClr val="F4F6FA"/>
          </a:solidFill>
          <a:ln w="19050">
            <a:solidFill>
              <a:srgbClr val="D0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182880" y="1325880"/>
            <a:ext cx="3819020" cy="502920"/>
          </a:xfrm>
          <a:prstGeom prst="rect">
            <a:avLst/>
          </a:prstGeom>
          <a:solidFill>
            <a:srgbClr val="D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320040" y="1389888"/>
            <a:ext cx="353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今すぐ（今週）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35395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□ 価格・最小ロット・支払い条件の確定
　（吉岡＋宮脇）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80360"/>
            <a:ext cx="353957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□ キーストン社への確認5項目を送付
　（吉岡）
　• SDS日本語版の有無
　• 全成分CAS番号
　• VOC含有量
　• 保管・輸送条件
　• 容器サイズ・賞味期限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78223" y="1325880"/>
            <a:ext cx="3819020" cy="5212080"/>
          </a:xfrm>
          <a:prstGeom prst="rect">
            <a:avLst/>
          </a:prstGeom>
          <a:solidFill>
            <a:srgbClr val="F4F6FA"/>
          </a:solidFill>
          <a:ln w="19050"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ectangle 11"/>
          <p:cNvSpPr/>
          <p:nvPr/>
        </p:nvSpPr>
        <p:spPr>
          <a:xfrm>
            <a:off x="4078223" y="1325880"/>
            <a:ext cx="381902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4215383" y="1389888"/>
            <a:ext cx="353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1〜2週間以内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5383" y="1965960"/>
            <a:ext cx="35395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□ NDA英語版テンプレート作成
　（宮脇＋AI → 弁護士レビュー）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5383" y="2880360"/>
            <a:ext cx="35395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□ 原液販売契約書テンプレート作成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3" y="3794760"/>
            <a:ext cx="35395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□ 英語版TDSドラフト作成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3" y="4709160"/>
            <a:ext cx="35395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□ 英語版見積書フォーマット作成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5383" y="5623560"/>
            <a:ext cx="35395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□ 仕向け国の輸出規制確認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6" y="1325880"/>
            <a:ext cx="3819020" cy="5212080"/>
          </a:xfrm>
          <a:prstGeom prst="rect">
            <a:avLst/>
          </a:prstGeom>
          <a:solidFill>
            <a:srgbClr val="F4F6FA"/>
          </a:solidFill>
          <a:ln w="19050">
            <a:solidFill>
              <a:srgbClr val="14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Rectangle 19"/>
          <p:cNvSpPr/>
          <p:nvPr/>
        </p:nvSpPr>
        <p:spPr>
          <a:xfrm>
            <a:off x="7973566" y="1325880"/>
            <a:ext cx="3819020" cy="502920"/>
          </a:xfrm>
          <a:prstGeom prst="rect">
            <a:avLst/>
          </a:prstGeom>
          <a:solidFill>
            <a:srgbClr val="1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8110726" y="1389888"/>
            <a:ext cx="353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キーストン回答後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6" y="1965960"/>
            <a:ext cx="35395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□ 英語版SDS完成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6" y="2880360"/>
            <a:ext cx="35395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□ TDS最終版完成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6" y="3794760"/>
            <a:ext cx="35395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□ 物流・送金ルート確定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6" y="4709160"/>
            <a:ext cx="35395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□ バイヤーとのNDA締結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6" y="5623560"/>
            <a:ext cx="35395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□ 販売契約締結 → 入金確認 → 発送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D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02B2B"/>
                </a:solidFill>
              </a:rPr>
              <a:t>絶対に守るルール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特許なし　＝　秘密が漏れたら終わり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10332720" cy="658368"/>
          </a:xfrm>
          <a:prstGeom prst="rect">
            <a:avLst/>
          </a:prstGeom>
          <a:solidFill>
            <a:srgbClr val="202035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EECC"/>
                </a:solidFill>
              </a:rPr>
              <a:t>・ NDAなしで原液を渡すことは「設計図を渡すこと」と同じ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63240"/>
            <a:ext cx="10332720" cy="658368"/>
          </a:xfrm>
          <a:prstGeom prst="rect">
            <a:avLst/>
          </a:prstGeom>
          <a:solidFill>
            <a:srgbClr val="202035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1188720" y="315468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</a:rPr>
              <a:t>・ 販売契約より先に NDA を締結すること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840480"/>
            <a:ext cx="10332720" cy="658368"/>
          </a:xfrm>
          <a:prstGeom prst="rect">
            <a:avLst/>
          </a:prstGeom>
          <a:solidFill>
            <a:srgbClr val="202035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D02B2B"/>
                </a:solidFill>
              </a:rPr>
              <a:t>・ これだけは絶対に守る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856417"/>
            <a:ext cx="11064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1A2744"/>
                </a:solidFill>
              </a:rPr>
              <a:t>Next Action →  </a:t>
            </a:r>
            <a:r>
              <a:rPr sz="2000" b="1" i="0" dirty="0" err="1">
                <a:solidFill>
                  <a:srgbClr val="1A2744"/>
                </a:solidFill>
              </a:rPr>
              <a:t>キーストン社への確認事項を今週中に送付</a:t>
            </a:r>
            <a:endParaRPr sz="2000" b="1" i="0" dirty="0">
              <a:solidFill>
                <a:srgbClr val="1A274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52038E62-CDD1-21AE-AA9D-E6BCB189C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295133"/>
              </p:ext>
            </p:extLst>
          </p:nvPr>
        </p:nvGraphicFramePr>
        <p:xfrm>
          <a:off x="1064891" y="1255776"/>
          <a:ext cx="10323544" cy="4531245"/>
        </p:xfrm>
        <a:graphic>
          <a:graphicData uri="http://schemas.openxmlformats.org/drawingml/2006/table">
            <a:tbl>
              <a:tblPr/>
              <a:tblGrid>
                <a:gridCol w="1789180">
                  <a:extLst>
                    <a:ext uri="{9D8B030D-6E8A-4147-A177-3AD203B41FA5}">
                      <a16:colId xmlns:a16="http://schemas.microsoft.com/office/drawing/2014/main" val="250951413"/>
                    </a:ext>
                  </a:extLst>
                </a:gridCol>
                <a:gridCol w="1789180">
                  <a:extLst>
                    <a:ext uri="{9D8B030D-6E8A-4147-A177-3AD203B41FA5}">
                      <a16:colId xmlns:a16="http://schemas.microsoft.com/office/drawing/2014/main" val="277201572"/>
                    </a:ext>
                  </a:extLst>
                </a:gridCol>
                <a:gridCol w="1789180">
                  <a:extLst>
                    <a:ext uri="{9D8B030D-6E8A-4147-A177-3AD203B41FA5}">
                      <a16:colId xmlns:a16="http://schemas.microsoft.com/office/drawing/2014/main" val="1606141939"/>
                    </a:ext>
                  </a:extLst>
                </a:gridCol>
                <a:gridCol w="4956004">
                  <a:extLst>
                    <a:ext uri="{9D8B030D-6E8A-4147-A177-3AD203B41FA5}">
                      <a16:colId xmlns:a16="http://schemas.microsoft.com/office/drawing/2014/main" val="2908754891"/>
                    </a:ext>
                  </a:extLst>
                </a:gridCol>
              </a:tblGrid>
              <a:tr h="27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市場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緊急度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難易度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状況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227232"/>
                  </a:ext>
                </a:extLst>
              </a:tr>
              <a:tr h="748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b="1">
                          <a:effectLst/>
                        </a:rPr>
                        <a:t>ドバイ</a:t>
                      </a:r>
                      <a:endParaRPr lang="ja-JP" altLang="en-US" sz="1600">
                        <a:effectLst/>
                      </a:endParaRP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MM" altLang="en-US" sz="1600">
                          <a:effectLst/>
                        </a:rPr>
                        <a:t>🔴</a:t>
                      </a:r>
                      <a:r>
                        <a:rPr lang="ja-JP" altLang="en-US" sz="1600">
                          <a:effectLst/>
                        </a:rPr>
                        <a:t>高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中高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600">
                          <a:effectLst/>
                        </a:rPr>
                        <a:t>9/27</a:t>
                      </a:r>
                      <a:r>
                        <a:rPr lang="ja-JP" altLang="en-US" sz="1600">
                          <a:effectLst/>
                        </a:rPr>
                        <a:t>展示会まで</a:t>
                      </a:r>
                      <a:r>
                        <a:rPr lang="en-US" altLang="ja-JP" sz="1600">
                          <a:effectLst/>
                        </a:rPr>
                        <a:t>5</a:t>
                      </a:r>
                      <a:r>
                        <a:rPr lang="ja-JP" altLang="en-US" sz="1600">
                          <a:effectLst/>
                        </a:rPr>
                        <a:t>ヶ月。中東・欧州の入り口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797816"/>
                  </a:ext>
                </a:extLst>
              </a:tr>
              <a:tr h="748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b="1">
                          <a:effectLst/>
                        </a:rPr>
                        <a:t>ハワイ</a:t>
                      </a:r>
                      <a:endParaRPr lang="ja-JP" altLang="en-US" sz="1600">
                        <a:effectLst/>
                      </a:endParaRP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MM" altLang="en-US" sz="1600">
                          <a:effectLst/>
                        </a:rPr>
                        <a:t>🟠</a:t>
                      </a:r>
                      <a:r>
                        <a:rPr lang="ja-JP" altLang="en-US" sz="1600">
                          <a:effectLst/>
                        </a:rPr>
                        <a:t>中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低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実績済み（</a:t>
                      </a:r>
                      <a:r>
                        <a:rPr lang="en-US" altLang="ja-JP" sz="1600">
                          <a:effectLst/>
                        </a:rPr>
                        <a:t>3</a:t>
                      </a:r>
                      <a:r>
                        <a:rPr lang="ja-JP" altLang="en-US" sz="1600">
                          <a:effectLst/>
                        </a:rPr>
                        <a:t>日で</a:t>
                      </a:r>
                      <a:r>
                        <a:rPr lang="en-US" altLang="ja-JP" sz="1600">
                          <a:effectLst/>
                        </a:rPr>
                        <a:t>100</a:t>
                      </a:r>
                      <a:r>
                        <a:rPr lang="ja-JP" altLang="en-US" sz="1600">
                          <a:effectLst/>
                        </a:rPr>
                        <a:t>万円）。再現性を固める段階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85675"/>
                  </a:ext>
                </a:extLst>
              </a:tr>
              <a:tr h="748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b="1">
                          <a:effectLst/>
                        </a:rPr>
                        <a:t>台湾</a:t>
                      </a:r>
                      <a:endParaRPr lang="ja-JP" altLang="en-US" sz="1600">
                        <a:effectLst/>
                      </a:endParaRP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MM" altLang="en-US" sz="1600">
                          <a:effectLst/>
                        </a:rPr>
                        <a:t>🟡</a:t>
                      </a:r>
                      <a:r>
                        <a:rPr lang="ja-JP" altLang="en-US" sz="1600">
                          <a:effectLst/>
                        </a:rPr>
                        <a:t>低中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低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日本文化親和性高い、知人あり。規制も容易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876166"/>
                  </a:ext>
                </a:extLst>
              </a:tr>
              <a:tr h="748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b="1">
                          <a:effectLst/>
                        </a:rPr>
                        <a:t>シンガポール</a:t>
                      </a:r>
                      <a:endParaRPr lang="ja-JP" altLang="en-US" sz="1600">
                        <a:effectLst/>
                      </a:endParaRP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MM" altLang="en-US" sz="1600">
                          <a:effectLst/>
                        </a:rPr>
                        <a:t>🟡</a:t>
                      </a:r>
                      <a:r>
                        <a:rPr lang="ja-JP" altLang="en-US" sz="1600">
                          <a:effectLst/>
                        </a:rPr>
                        <a:t>低中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中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既存ガイドで</a:t>
                      </a:r>
                      <a:r>
                        <a:rPr lang="en-US" sz="1600">
                          <a:effectLst/>
                        </a:rPr>
                        <a:t>Top</a:t>
                      </a:r>
                      <a:r>
                        <a:rPr lang="ja-JP" altLang="en-US" sz="1600">
                          <a:effectLst/>
                        </a:rPr>
                        <a:t>推奨。英語対応、高級市場大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30187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b="1">
                          <a:effectLst/>
                        </a:rPr>
                        <a:t>韓国</a:t>
                      </a:r>
                      <a:endParaRPr lang="ja-JP" altLang="en-US" sz="1600">
                        <a:effectLst/>
                      </a:endParaRP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MM" altLang="en-US" sz="1600">
                          <a:effectLst/>
                        </a:rPr>
                        <a:t>🟡</a:t>
                      </a:r>
                      <a:r>
                        <a:rPr lang="ja-JP" altLang="en-US" sz="1600">
                          <a:effectLst/>
                        </a:rPr>
                        <a:t>低中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中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知人あり、慎重判断中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346983"/>
                  </a:ext>
                </a:extLst>
              </a:tr>
              <a:tr h="748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 b="1">
                          <a:effectLst/>
                        </a:rPr>
                        <a:t>フィリピン</a:t>
                      </a:r>
                      <a:endParaRPr lang="ja-JP" altLang="en-US" sz="1600">
                        <a:effectLst/>
                      </a:endParaRP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MM" altLang="en-US" sz="1600">
                          <a:effectLst/>
                        </a:rPr>
                        <a:t>🔵</a:t>
                      </a:r>
                      <a:r>
                        <a:rPr lang="ja-JP" altLang="en-US" sz="1600">
                          <a:effectLst/>
                        </a:rPr>
                        <a:t>低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中高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600">
                          <a:effectLst/>
                        </a:rPr>
                        <a:t>高田会長コネクション。規制</a:t>
                      </a:r>
                      <a:r>
                        <a:rPr lang="en-US" sz="1600" dirty="0">
                          <a:effectLst/>
                        </a:rPr>
                        <a:t>PMPIN</a:t>
                      </a:r>
                      <a:r>
                        <a:rPr lang="ja-JP" altLang="en-US" sz="1600">
                          <a:effectLst/>
                        </a:rPr>
                        <a:t>手続きが複雑</a:t>
                      </a:r>
                    </a:p>
                  </a:txBody>
                  <a:tcPr marL="16566" marR="16566" marT="16566" marB="16566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52617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FDEF074-40C6-E6E7-DADB-F334A1A84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014" y="475884"/>
            <a:ext cx="8981633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MM" altLang="ja-MM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6市場の現実的評価</a:t>
            </a:r>
          </a:p>
        </p:txBody>
      </p:sp>
    </p:spTree>
    <p:extLst>
      <p:ext uri="{BB962C8B-B14F-4D97-AF65-F5344CB8AC3E}">
        <p14:creationId xmlns:p14="http://schemas.microsoft.com/office/powerpoint/2010/main" val="312701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605AC032-BB56-3170-FB54-39F7538CD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583656"/>
              </p:ext>
            </p:extLst>
          </p:nvPr>
        </p:nvGraphicFramePr>
        <p:xfrm>
          <a:off x="724394" y="1211283"/>
          <a:ext cx="5566251" cy="4911233"/>
        </p:xfrm>
        <a:graphic>
          <a:graphicData uri="http://schemas.openxmlformats.org/drawingml/2006/table">
            <a:tbl>
              <a:tblPr/>
              <a:tblGrid>
                <a:gridCol w="1855417">
                  <a:extLst>
                    <a:ext uri="{9D8B030D-6E8A-4147-A177-3AD203B41FA5}">
                      <a16:colId xmlns:a16="http://schemas.microsoft.com/office/drawing/2014/main" val="2713579866"/>
                    </a:ext>
                  </a:extLst>
                </a:gridCol>
                <a:gridCol w="1855417">
                  <a:extLst>
                    <a:ext uri="{9D8B030D-6E8A-4147-A177-3AD203B41FA5}">
                      <a16:colId xmlns:a16="http://schemas.microsoft.com/office/drawing/2014/main" val="3927262471"/>
                    </a:ext>
                  </a:extLst>
                </a:gridCol>
                <a:gridCol w="1855417">
                  <a:extLst>
                    <a:ext uri="{9D8B030D-6E8A-4147-A177-3AD203B41FA5}">
                      <a16:colId xmlns:a16="http://schemas.microsoft.com/office/drawing/2014/main" val="2880585168"/>
                    </a:ext>
                  </a:extLst>
                </a:gridCol>
              </a:tblGrid>
              <a:tr h="172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項目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出典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内容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64777"/>
                  </a:ext>
                </a:extLst>
              </a:tr>
              <a:tr h="476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製品名・概要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Protocare XOP, fluoropolymer penetrating coating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750487"/>
                  </a:ext>
                </a:extLst>
              </a:tr>
              <a:tr h="476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対応素材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Granite, marble, limestone, terrazzo, sandstone, andesite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165138"/>
                  </a:ext>
                </a:extLst>
              </a:tr>
              <a:tr h="172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使用量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0.12–0.18 L/m²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532565"/>
                  </a:ext>
                </a:extLst>
              </a:tr>
              <a:tr h="172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塗布回数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2–3 coats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164551"/>
                  </a:ext>
                </a:extLst>
              </a:tr>
              <a:tr h="324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乾燥時間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Touch dry in 2 hours (at 20°C)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747311"/>
                  </a:ext>
                </a:extLst>
              </a:tr>
              <a:tr h="172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施工方法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Roller, brush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688055"/>
                  </a:ext>
                </a:extLst>
              </a:tr>
              <a:tr h="172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施工温度範囲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5°C – 35°C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398013"/>
                  </a:ext>
                </a:extLst>
              </a:tr>
              <a:tr h="476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成分組成（部分）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Silica 9.3–9.6%, Inorganic polymer 49.4–50.9%, Water 26.9–28.7% </a:t>
                      </a:r>
                      <a:r>
                        <a:rPr lang="ja-JP" altLang="en-US" sz="900">
                          <a:effectLst/>
                        </a:rPr>
                        <a:t>等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631470"/>
                  </a:ext>
                </a:extLst>
              </a:tr>
              <a:tr h="324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汚染テストデータ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Oil, salad oil, engine oil → 0</a:t>
                      </a:r>
                      <a:r>
                        <a:rPr lang="ja-JP" altLang="en-US" sz="900">
                          <a:effectLst/>
                        </a:rPr>
                        <a:t>汚染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077252"/>
                  </a:ext>
                </a:extLst>
              </a:tr>
              <a:tr h="324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透水性データ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0.3ml（JIS</a:t>
                      </a:r>
                      <a:r>
                        <a:rPr lang="ja-JP" altLang="en-US" sz="900">
                          <a:effectLst/>
                        </a:rPr>
                        <a:t>基準</a:t>
                      </a:r>
                      <a:r>
                        <a:rPr lang="en-US" altLang="ja-JP" sz="900">
                          <a:effectLst/>
                        </a:rPr>
                        <a:t>0.5</a:t>
                      </a:r>
                      <a:r>
                        <a:rPr lang="en-US" sz="900">
                          <a:effectLst/>
                        </a:rPr>
                        <a:t>ml</a:t>
                      </a:r>
                      <a:r>
                        <a:rPr lang="ja-JP" altLang="en-US" sz="900">
                          <a:effectLst/>
                        </a:rPr>
                        <a:t>以下をクリア）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29005"/>
                  </a:ext>
                </a:extLst>
              </a:tr>
              <a:tr h="324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吸水防止効果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95% water absorption prevention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503021"/>
                  </a:ext>
                </a:extLst>
              </a:tr>
              <a:tr h="172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浸透深さ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平均</a:t>
                      </a:r>
                      <a:r>
                        <a:rPr lang="en-US" altLang="ja-JP" sz="900">
                          <a:effectLst/>
                        </a:rPr>
                        <a:t>1</a:t>
                      </a:r>
                      <a:r>
                        <a:rPr lang="en-US" sz="900">
                          <a:effectLst/>
                        </a:rPr>
                        <a:t>mm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296558"/>
                  </a:ext>
                </a:extLst>
              </a:tr>
              <a:tr h="476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UV</a:t>
                      </a:r>
                      <a:r>
                        <a:rPr lang="ja-JP" altLang="en-US" sz="900">
                          <a:effectLst/>
                        </a:rPr>
                        <a:t>耐性根拠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UV</a:t>
                      </a:r>
                      <a:r>
                        <a:rPr lang="ja-JP" altLang="en-US" sz="900">
                          <a:effectLst/>
                        </a:rPr>
                        <a:t>資料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Si-O bond 106 kcal/mol, </a:t>
                      </a:r>
                      <a:r>
                        <a:rPr lang="ja-JP" altLang="en-US" sz="900">
                          <a:effectLst/>
                        </a:rPr>
                        <a:t>解離波長</a:t>
                      </a:r>
                      <a:r>
                        <a:rPr lang="en-US" altLang="ja-JP" sz="900">
                          <a:effectLst/>
                        </a:rPr>
                        <a:t>270</a:t>
                      </a:r>
                      <a:r>
                        <a:rPr lang="en-US" sz="900">
                          <a:effectLst/>
                        </a:rPr>
                        <a:t>nm（</a:t>
                      </a:r>
                      <a:r>
                        <a:rPr lang="ja-JP" altLang="en-US" sz="900">
                          <a:effectLst/>
                        </a:rPr>
                        <a:t>太陽</a:t>
                      </a:r>
                      <a:r>
                        <a:rPr lang="en-US" sz="900">
                          <a:effectLst/>
                        </a:rPr>
                        <a:t>UV</a:t>
                      </a:r>
                      <a:r>
                        <a:rPr lang="ja-JP" altLang="en-US" sz="900">
                          <a:effectLst/>
                        </a:rPr>
                        <a:t>範囲外）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57090"/>
                  </a:ext>
                </a:extLst>
              </a:tr>
              <a:tr h="172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耐熱性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比較表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No change at 200°C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437742"/>
                  </a:ext>
                </a:extLst>
              </a:tr>
              <a:tr h="172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耐酸・耐アルカリ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比較表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JIS K 5600 6.1</a:t>
                      </a:r>
                      <a:r>
                        <a:rPr lang="ja-JP" altLang="en-US" sz="900">
                          <a:effectLst/>
                        </a:rPr>
                        <a:t>準拠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765612"/>
                  </a:ext>
                </a:extLst>
              </a:tr>
              <a:tr h="324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施工実績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>
                          <a:effectLst/>
                        </a:rPr>
                        <a:t>英語パンフ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Roppongi Hills, </a:t>
                      </a:r>
                      <a:r>
                        <a:rPr lang="en-US" sz="900" dirty="0" err="1">
                          <a:effectLst/>
                        </a:rPr>
                        <a:t>Otemachi</a:t>
                      </a:r>
                      <a:r>
                        <a:rPr lang="en-US" sz="900" dirty="0">
                          <a:effectLst/>
                        </a:rPr>
                        <a:t> Building</a:t>
                      </a:r>
                      <a:r>
                        <a:rPr lang="ja-JP" altLang="en-US" sz="900">
                          <a:effectLst/>
                        </a:rPr>
                        <a:t>等</a:t>
                      </a:r>
                    </a:p>
                  </a:txBody>
                  <a:tcPr marL="9712" marR="9712" marT="9712" marB="971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73891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C8D519F2-267C-74B2-239B-F50379389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394" y="350763"/>
            <a:ext cx="4194958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MM" altLang="ja-MM" sz="1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TDS（技術仕様書）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MM" altLang="ja-MM" sz="105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MM" altLang="ja-MM" sz="105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既存資料から作れる項目 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MM" altLang="ja-MM" sz="11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→ TDSは約70%完成できる。今すぐドラフト作成可能。</a:t>
            </a:r>
            <a:endParaRPr kumimoji="0" lang="ja-MM" altLang="ja-MM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29144B0-3CCE-5DD6-7747-7BB026D6F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009456"/>
              </p:ext>
            </p:extLst>
          </p:nvPr>
        </p:nvGraphicFramePr>
        <p:xfrm>
          <a:off x="6548645" y="1315429"/>
          <a:ext cx="5320146" cy="2514600"/>
        </p:xfrm>
        <a:graphic>
          <a:graphicData uri="http://schemas.openxmlformats.org/drawingml/2006/table">
            <a:tbl>
              <a:tblPr/>
              <a:tblGrid>
                <a:gridCol w="3080084">
                  <a:extLst>
                    <a:ext uri="{9D8B030D-6E8A-4147-A177-3AD203B41FA5}">
                      <a16:colId xmlns:a16="http://schemas.microsoft.com/office/drawing/2014/main" val="5949416"/>
                    </a:ext>
                  </a:extLst>
                </a:gridCol>
                <a:gridCol w="2240062">
                  <a:extLst>
                    <a:ext uri="{9D8B030D-6E8A-4147-A177-3AD203B41FA5}">
                      <a16:colId xmlns:a16="http://schemas.microsoft.com/office/drawing/2014/main" val="1408378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不足項目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重要度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287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製品コード・</a:t>
                      </a:r>
                      <a:r>
                        <a:rPr lang="en-US" sz="1400">
                          <a:effectLst/>
                        </a:rPr>
                        <a:t>SKU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中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851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容器サイズ（</a:t>
                      </a:r>
                      <a:r>
                        <a:rPr lang="en-US" altLang="ja-JP" sz="1400">
                          <a:effectLst/>
                        </a:rPr>
                        <a:t>1</a:t>
                      </a:r>
                      <a:r>
                        <a:rPr lang="en-US" sz="1400">
                          <a:effectLst/>
                        </a:rPr>
                        <a:t>L / 5L / 18L </a:t>
                      </a:r>
                      <a:r>
                        <a:rPr lang="ja-JP" altLang="en-US" sz="1400">
                          <a:effectLst/>
                        </a:rPr>
                        <a:t>等）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高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851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液体密度・比重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中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266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pH</a:t>
                      </a:r>
                      <a:r>
                        <a:rPr lang="ja-JP" altLang="en-US" sz="1400">
                          <a:effectLst/>
                        </a:rPr>
                        <a:t>値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中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046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VOC</a:t>
                      </a:r>
                      <a:r>
                        <a:rPr lang="ja-JP" altLang="en-US" sz="1400">
                          <a:effectLst/>
                        </a:rPr>
                        <a:t>含有量（</a:t>
                      </a:r>
                      <a:r>
                        <a:rPr lang="en-US" sz="1400">
                          <a:effectLst/>
                        </a:rPr>
                        <a:t>g/L）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高 </a:t>
                      </a:r>
                      <a:r>
                        <a:rPr lang="en-US" altLang="ja-JP" sz="1400">
                          <a:effectLst/>
                        </a:rPr>
                        <a:t>※</a:t>
                      </a:r>
                      <a:r>
                        <a:rPr lang="ja-JP" altLang="en-US" sz="1400">
                          <a:effectLst/>
                        </a:rPr>
                        <a:t>ハワイは</a:t>
                      </a:r>
                      <a:r>
                        <a:rPr lang="en-US" sz="1400">
                          <a:effectLst/>
                        </a:rPr>
                        <a:t>EPA</a:t>
                      </a:r>
                      <a:r>
                        <a:rPr lang="ja-JP" altLang="en-US" sz="1400">
                          <a:effectLst/>
                        </a:rPr>
                        <a:t>規制あり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963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保存温度・推奨期間（賞味期限）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高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572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撥水接触角（</a:t>
                      </a:r>
                      <a:r>
                        <a:rPr lang="en-US" altLang="ja-JP" sz="1400">
                          <a:effectLst/>
                        </a:rPr>
                        <a:t>°</a:t>
                      </a:r>
                      <a:r>
                        <a:rPr lang="ja-JP" altLang="en-US" sz="1400">
                          <a:effectLst/>
                        </a:rPr>
                        <a:t>）の実測値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高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680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保証年数の公式表明（</a:t>
                      </a:r>
                      <a:r>
                        <a:rPr lang="en-US" altLang="ja-JP" sz="1400">
                          <a:effectLst/>
                        </a:rPr>
                        <a:t>10</a:t>
                      </a:r>
                      <a:r>
                        <a:rPr lang="ja-JP" altLang="en-US" sz="1400">
                          <a:effectLst/>
                        </a:rPr>
                        <a:t>年）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高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614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カラーバリエーション（透明のみか）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低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416925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C659463E-9128-44B8-386C-862446F6D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6326" y="608525"/>
            <a:ext cx="3878489" cy="25391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MM" altLang="ja-MM" sz="105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TDSで不足している項目 ❌（キーストン社に確認必要）</a:t>
            </a:r>
          </a:p>
        </p:txBody>
      </p:sp>
    </p:spTree>
    <p:extLst>
      <p:ext uri="{BB962C8B-B14F-4D97-AF65-F5344CB8AC3E}">
        <p14:creationId xmlns:p14="http://schemas.microsoft.com/office/powerpoint/2010/main" val="3956821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9A508A71-41BE-FFFA-FE9C-B64CB388A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83248"/>
              </p:ext>
            </p:extLst>
          </p:nvPr>
        </p:nvGraphicFramePr>
        <p:xfrm>
          <a:off x="457200" y="1294410"/>
          <a:ext cx="5456712" cy="4720889"/>
        </p:xfrm>
        <a:graphic>
          <a:graphicData uri="http://schemas.openxmlformats.org/drawingml/2006/table">
            <a:tbl>
              <a:tblPr/>
              <a:tblGrid>
                <a:gridCol w="1818904">
                  <a:extLst>
                    <a:ext uri="{9D8B030D-6E8A-4147-A177-3AD203B41FA5}">
                      <a16:colId xmlns:a16="http://schemas.microsoft.com/office/drawing/2014/main" val="2217545879"/>
                    </a:ext>
                  </a:extLst>
                </a:gridCol>
                <a:gridCol w="1054380">
                  <a:extLst>
                    <a:ext uri="{9D8B030D-6E8A-4147-A177-3AD203B41FA5}">
                      <a16:colId xmlns:a16="http://schemas.microsoft.com/office/drawing/2014/main" val="3448162923"/>
                    </a:ext>
                  </a:extLst>
                </a:gridCol>
                <a:gridCol w="2583428">
                  <a:extLst>
                    <a:ext uri="{9D8B030D-6E8A-4147-A177-3AD203B41FA5}">
                      <a16:colId xmlns:a16="http://schemas.microsoft.com/office/drawing/2014/main" val="2435225670"/>
                    </a:ext>
                  </a:extLst>
                </a:gridCol>
              </a:tblGrid>
              <a:tr h="1264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セクション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充足度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内容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26831"/>
                  </a:ext>
                </a:extLst>
              </a:tr>
              <a:tr h="84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Section 1: </a:t>
                      </a:r>
                      <a:r>
                        <a:rPr lang="ja-JP" altLang="en-US" sz="1400">
                          <a:effectLst/>
                        </a:rPr>
                        <a:t>製品識別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MM" sz="1400">
                          <a:effectLst/>
                        </a:rPr>
                        <a:t>60%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製品名・用途はある。緊急連絡先・海外住所なし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435099"/>
                  </a:ext>
                </a:extLst>
              </a:tr>
              <a:tr h="84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Section 3: </a:t>
                      </a:r>
                      <a:r>
                        <a:rPr lang="ja-JP" altLang="en-US" sz="1400">
                          <a:effectLst/>
                        </a:rPr>
                        <a:t>成分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MM" sz="1400">
                          <a:effectLst/>
                        </a:rPr>
                        <a:t>40%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成分名・</a:t>
                      </a:r>
                      <a:r>
                        <a:rPr lang="en-US" altLang="ja-JP" sz="1400">
                          <a:effectLst/>
                        </a:rPr>
                        <a:t>%</a:t>
                      </a:r>
                      <a:r>
                        <a:rPr lang="ja-JP" altLang="en-US" sz="1400">
                          <a:effectLst/>
                        </a:rPr>
                        <a:t>はある。</a:t>
                      </a:r>
                      <a:r>
                        <a:rPr lang="en-US" sz="1400" b="1">
                          <a:effectLst/>
                        </a:rPr>
                        <a:t>CAS</a:t>
                      </a:r>
                      <a:r>
                        <a:rPr lang="ja-JP" altLang="en-US" sz="1400" b="1">
                          <a:effectLst/>
                        </a:rPr>
                        <a:t>番号が</a:t>
                      </a:r>
                      <a:r>
                        <a:rPr lang="en-US" sz="1400" b="1">
                          <a:effectLst/>
                        </a:rPr>
                        <a:t>TiO2</a:t>
                      </a:r>
                      <a:r>
                        <a:rPr lang="ja-JP" altLang="en-US" sz="1400" b="1">
                          <a:effectLst/>
                        </a:rPr>
                        <a:t>以外すべて「</a:t>
                      </a:r>
                      <a:r>
                        <a:rPr lang="en-US" sz="1400" b="1">
                          <a:effectLst/>
                        </a:rPr>
                        <a:t>Not disclosed」</a:t>
                      </a:r>
                      <a:endParaRPr lang="en-US" sz="140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766915"/>
                  </a:ext>
                </a:extLst>
              </a:tr>
              <a:tr h="455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Section 5: </a:t>
                      </a:r>
                      <a:r>
                        <a:rPr lang="ja-JP" altLang="en-US" sz="1400">
                          <a:effectLst/>
                        </a:rPr>
                        <a:t>消防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MM" sz="1400">
                          <a:effectLst/>
                        </a:rPr>
                        <a:t>80%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Non-combustible（</a:t>
                      </a:r>
                      <a:r>
                        <a:rPr lang="ja-JP" altLang="en-US" sz="1400">
                          <a:effectLst/>
                        </a:rPr>
                        <a:t>不燃性）は確認済み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794007"/>
                  </a:ext>
                </a:extLst>
              </a:tr>
              <a:tr h="455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Section 9: </a:t>
                      </a:r>
                      <a:r>
                        <a:rPr lang="ja-JP" altLang="en-US" sz="1400">
                          <a:effectLst/>
                        </a:rPr>
                        <a:t>物性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MM" sz="1400">
                          <a:effectLst/>
                        </a:rPr>
                        <a:t>30%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</a:rPr>
                        <a:t>水性・溶剤フリーのみ。密度・</a:t>
                      </a:r>
                      <a:r>
                        <a:rPr lang="en-US" sz="1400">
                          <a:effectLst/>
                        </a:rPr>
                        <a:t>pH・</a:t>
                      </a:r>
                      <a:r>
                        <a:rPr lang="ja-JP" altLang="en-US" sz="1400">
                          <a:effectLst/>
                        </a:rPr>
                        <a:t>引火点なし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76191"/>
                  </a:ext>
                </a:extLst>
              </a:tr>
              <a:tr h="84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Section 10: </a:t>
                      </a:r>
                      <a:r>
                        <a:rPr lang="ja-JP" altLang="en-US" sz="1400">
                          <a:effectLst/>
                        </a:rPr>
                        <a:t>安定性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MM" sz="1400" dirty="0">
                          <a:effectLst/>
                        </a:rPr>
                        <a:t>70%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UV</a:t>
                      </a:r>
                      <a:r>
                        <a:rPr lang="ja-JP" altLang="en-US" sz="1400">
                          <a:effectLst/>
                        </a:rPr>
                        <a:t>安定、耐熱</a:t>
                      </a:r>
                      <a:r>
                        <a:rPr lang="en-US" altLang="ja-JP" sz="1400" dirty="0">
                          <a:effectLst/>
                        </a:rPr>
                        <a:t>200°</a:t>
                      </a:r>
                      <a:r>
                        <a:rPr lang="en-US" sz="1400" dirty="0">
                          <a:effectLst/>
                        </a:rPr>
                        <a:t>C、</a:t>
                      </a:r>
                      <a:r>
                        <a:rPr lang="ja-JP" altLang="en-US" sz="1400">
                          <a:effectLst/>
                        </a:rPr>
                        <a:t>耐酸・耐アルカリ確認済み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92274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176FD04B-AE0E-E731-D83E-BDE828D00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3146"/>
            <a:ext cx="5967351" cy="9233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MM" altLang="ja-MM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SDS（安全データシート）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MM" altLang="ja-MM" sz="12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MM" altLang="ja-MM" sz="1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既存資料から使える項目 ✅（全16セクション中）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MM" altLang="ja-MM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→ SDSは約25%しか作れない。</a:t>
            </a:r>
            <a:endParaRPr kumimoji="0" lang="ja-MM" altLang="ja-MM" sz="36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6A484532-0A1F-DFB1-663D-B3059292E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959207"/>
              </p:ext>
            </p:extLst>
          </p:nvPr>
        </p:nvGraphicFramePr>
        <p:xfrm>
          <a:off x="6654007" y="1294410"/>
          <a:ext cx="4960061" cy="4525958"/>
        </p:xfrm>
        <a:graphic>
          <a:graphicData uri="http://schemas.openxmlformats.org/drawingml/2006/table">
            <a:tbl>
              <a:tblPr/>
              <a:tblGrid>
                <a:gridCol w="1984588">
                  <a:extLst>
                    <a:ext uri="{9D8B030D-6E8A-4147-A177-3AD203B41FA5}">
                      <a16:colId xmlns:a16="http://schemas.microsoft.com/office/drawing/2014/main" val="3452744771"/>
                    </a:ext>
                  </a:extLst>
                </a:gridCol>
                <a:gridCol w="1984588">
                  <a:extLst>
                    <a:ext uri="{9D8B030D-6E8A-4147-A177-3AD203B41FA5}">
                      <a16:colId xmlns:a16="http://schemas.microsoft.com/office/drawing/2014/main" val="1997325170"/>
                    </a:ext>
                  </a:extLst>
                </a:gridCol>
                <a:gridCol w="990885">
                  <a:extLst>
                    <a:ext uri="{9D8B030D-6E8A-4147-A177-3AD203B41FA5}">
                      <a16:colId xmlns:a16="http://schemas.microsoft.com/office/drawing/2014/main" val="2580193340"/>
                    </a:ext>
                  </a:extLst>
                </a:gridCol>
              </a:tblGrid>
              <a:tr h="226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セクション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不足内容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重要度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981587"/>
                  </a:ext>
                </a:extLst>
              </a:tr>
              <a:tr h="424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Section 2: </a:t>
                      </a:r>
                      <a:r>
                        <a:rPr lang="ja-JP" altLang="en-US" sz="1300">
                          <a:effectLst/>
                        </a:rPr>
                        <a:t>危険有害性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GHS</a:t>
                      </a:r>
                      <a:r>
                        <a:rPr lang="ja-JP" altLang="en-US" sz="1300">
                          <a:effectLst/>
                        </a:rPr>
                        <a:t>分類（</a:t>
                      </a:r>
                      <a:r>
                        <a:rPr lang="en-US" sz="1300">
                          <a:effectLst/>
                        </a:rPr>
                        <a:t>H</a:t>
                      </a:r>
                      <a:r>
                        <a:rPr lang="ja-JP" altLang="en-US" sz="1300">
                          <a:effectLst/>
                        </a:rPr>
                        <a:t>ステートメント・</a:t>
                      </a:r>
                      <a:r>
                        <a:rPr lang="en-US" sz="1300">
                          <a:effectLst/>
                        </a:rPr>
                        <a:t>P</a:t>
                      </a:r>
                      <a:r>
                        <a:rPr lang="ja-JP" altLang="en-US" sz="1300">
                          <a:effectLst/>
                        </a:rPr>
                        <a:t>ステートメント）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 b="1">
                          <a:effectLst/>
                        </a:rPr>
                        <a:t>必須</a:t>
                      </a:r>
                      <a:endParaRPr lang="ja-JP" altLang="en-US" sz="1300">
                        <a:effectLst/>
                      </a:endParaRP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796821"/>
                  </a:ext>
                </a:extLst>
              </a:tr>
              <a:tr h="226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Section 3: </a:t>
                      </a:r>
                      <a:r>
                        <a:rPr lang="ja-JP" altLang="en-US" sz="1300">
                          <a:effectLst/>
                        </a:rPr>
                        <a:t>成分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全成分の</a:t>
                      </a:r>
                      <a:r>
                        <a:rPr lang="en-US" sz="1300">
                          <a:effectLst/>
                        </a:rPr>
                        <a:t>CAS</a:t>
                      </a:r>
                      <a:r>
                        <a:rPr lang="ja-JP" altLang="en-US" sz="1300">
                          <a:effectLst/>
                        </a:rPr>
                        <a:t>番号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 b="1">
                          <a:effectLst/>
                        </a:rPr>
                        <a:t>必須</a:t>
                      </a:r>
                      <a:endParaRPr lang="ja-JP" altLang="en-US" sz="1300">
                        <a:effectLst/>
                      </a:endParaRP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42142"/>
                  </a:ext>
                </a:extLst>
              </a:tr>
              <a:tr h="424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Section 4: </a:t>
                      </a:r>
                      <a:r>
                        <a:rPr lang="ja-JP" altLang="en-US" sz="1300">
                          <a:effectLst/>
                        </a:rPr>
                        <a:t>応急処置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皮膚・眼・吸入・誤飲時の対処法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 b="1">
                          <a:effectLst/>
                        </a:rPr>
                        <a:t>必須</a:t>
                      </a:r>
                      <a:endParaRPr lang="ja-JP" altLang="en-US" sz="1300">
                        <a:effectLst/>
                      </a:endParaRP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740479"/>
                  </a:ext>
                </a:extLst>
              </a:tr>
              <a:tr h="226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Section 6: </a:t>
                      </a:r>
                      <a:r>
                        <a:rPr lang="ja-JP" altLang="en-US" sz="1300">
                          <a:effectLst/>
                        </a:rPr>
                        <a:t>漏出対応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流出時の対処・回収方法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必須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14577"/>
                  </a:ext>
                </a:extLst>
              </a:tr>
              <a:tr h="424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Section 7: </a:t>
                      </a:r>
                      <a:r>
                        <a:rPr lang="ja-JP" altLang="en-US" sz="1300">
                          <a:effectLst/>
                        </a:rPr>
                        <a:t>取扱・保管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保管温度・湿度・相溶禁止物質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必須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501485"/>
                  </a:ext>
                </a:extLst>
              </a:tr>
              <a:tr h="424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Section 8: </a:t>
                      </a:r>
                      <a:r>
                        <a:rPr lang="ja-JP" altLang="en-US" sz="1300">
                          <a:effectLst/>
                        </a:rPr>
                        <a:t>ばく露防止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許容濃度・必要</a:t>
                      </a:r>
                      <a:r>
                        <a:rPr lang="en-US" sz="1300">
                          <a:effectLst/>
                        </a:rPr>
                        <a:t>PPE（</a:t>
                      </a:r>
                      <a:r>
                        <a:rPr lang="ja-JP" altLang="en-US" sz="1300">
                          <a:effectLst/>
                        </a:rPr>
                        <a:t>手袋・眼鏡等）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必須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027276"/>
                  </a:ext>
                </a:extLst>
              </a:tr>
              <a:tr h="424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Section 9: </a:t>
                      </a:r>
                      <a:r>
                        <a:rPr lang="ja-JP" altLang="en-US" sz="1300">
                          <a:effectLst/>
                        </a:rPr>
                        <a:t>物性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密度・</a:t>
                      </a:r>
                      <a:r>
                        <a:rPr lang="en-US" sz="1300">
                          <a:effectLst/>
                        </a:rPr>
                        <a:t>pH・</a:t>
                      </a:r>
                      <a:r>
                        <a:rPr lang="ja-JP" altLang="en-US" sz="1300">
                          <a:effectLst/>
                        </a:rPr>
                        <a:t>粘度・引火点・蒸気圧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 b="1">
                          <a:effectLst/>
                        </a:rPr>
                        <a:t>必須</a:t>
                      </a:r>
                      <a:endParaRPr lang="ja-JP" altLang="en-US" sz="1300">
                        <a:effectLst/>
                      </a:endParaRP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662896"/>
                  </a:ext>
                </a:extLst>
              </a:tr>
              <a:tr h="424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Section 11: </a:t>
                      </a:r>
                      <a:r>
                        <a:rPr lang="ja-JP" altLang="en-US" sz="1300">
                          <a:effectLst/>
                        </a:rPr>
                        <a:t>毒性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LD50・</a:t>
                      </a:r>
                      <a:r>
                        <a:rPr lang="ja-JP" altLang="en-US" sz="1300">
                          <a:effectLst/>
                        </a:rPr>
                        <a:t>皮膚刺激・眼刺激データ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 b="1">
                          <a:effectLst/>
                        </a:rPr>
                        <a:t>必須</a:t>
                      </a:r>
                      <a:endParaRPr lang="ja-JP" altLang="en-US" sz="1300">
                        <a:effectLst/>
                      </a:endParaRP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447374"/>
                  </a:ext>
                </a:extLst>
              </a:tr>
              <a:tr h="226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Section 12: </a:t>
                      </a:r>
                      <a:r>
                        <a:rPr lang="ja-JP" altLang="en-US" sz="1300">
                          <a:effectLst/>
                        </a:rPr>
                        <a:t>環境影響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水生毒性・生分解性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必須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744647"/>
                  </a:ext>
                </a:extLst>
              </a:tr>
              <a:tr h="226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Section 13: </a:t>
                      </a:r>
                      <a:r>
                        <a:rPr lang="ja-JP" altLang="en-US" sz="1300">
                          <a:effectLst/>
                        </a:rPr>
                        <a:t>廃棄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国別廃棄規制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中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413034"/>
                  </a:ext>
                </a:extLst>
              </a:tr>
              <a:tr h="424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Section 14: </a:t>
                      </a:r>
                      <a:r>
                        <a:rPr lang="ja-JP" altLang="en-US" sz="1300">
                          <a:effectLst/>
                        </a:rPr>
                        <a:t>輸送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UN</a:t>
                      </a:r>
                      <a:r>
                        <a:rPr lang="ja-JP" altLang="en-US" sz="1300">
                          <a:effectLst/>
                        </a:rPr>
                        <a:t>番号・危険物分類（</a:t>
                      </a:r>
                      <a:r>
                        <a:rPr lang="en-US" sz="1300">
                          <a:effectLst/>
                        </a:rPr>
                        <a:t>IATA/IMDG）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 b="1">
                          <a:effectLst/>
                        </a:rPr>
                        <a:t>必須</a:t>
                      </a:r>
                      <a:endParaRPr lang="ja-JP" altLang="en-US" sz="1300">
                        <a:effectLst/>
                      </a:endParaRP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112576"/>
                  </a:ext>
                </a:extLst>
              </a:tr>
              <a:tr h="424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Section 15: </a:t>
                      </a:r>
                      <a:r>
                        <a:rPr lang="ja-JP" altLang="en-US" sz="1300">
                          <a:effectLst/>
                        </a:rPr>
                        <a:t>規制情報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米国</a:t>
                      </a:r>
                      <a:r>
                        <a:rPr lang="en-US" sz="1300">
                          <a:effectLst/>
                        </a:rPr>
                        <a:t>TSCA・UAE・</a:t>
                      </a:r>
                      <a:r>
                        <a:rPr lang="ja-JP" altLang="en-US" sz="1300">
                          <a:effectLst/>
                        </a:rPr>
                        <a:t>各国法規制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300">
                          <a:effectLst/>
                        </a:rPr>
                        <a:t>必須</a:t>
                      </a:r>
                    </a:p>
                  </a:txBody>
                  <a:tcPr marL="13782" marR="13782" marT="13782" marB="13782" anchor="ctr">
                    <a:lnL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069438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B95489BB-F1C4-ACA1-BB7B-00F524CF5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307" y="554113"/>
            <a:ext cx="4983811" cy="430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MM" altLang="ja-MM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SDSで絶対に不足している項目 ❌</a:t>
            </a:r>
            <a:br>
              <a:rPr kumimoji="0" lang="en-US" altLang="ja-MM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</a:br>
            <a:r>
              <a:rPr kumimoji="0" lang="ja-MM" altLang="ja-MM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（製造元=キーストン社からしか取れない）</a:t>
            </a:r>
          </a:p>
        </p:txBody>
      </p:sp>
    </p:spTree>
    <p:extLst>
      <p:ext uri="{BB962C8B-B14F-4D97-AF65-F5344CB8AC3E}">
        <p14:creationId xmlns:p14="http://schemas.microsoft.com/office/powerpoint/2010/main" val="654854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1090</Words>
  <Application>Microsoft Macintosh PowerPoint</Application>
  <PresentationFormat>ユーザー設定</PresentationFormat>
  <Paragraphs>279</Paragraphs>
  <Slides>10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toshio miyawaki</cp:lastModifiedBy>
  <cp:revision>4</cp:revision>
  <dcterms:created xsi:type="dcterms:W3CDTF">2013-01-27T09:14:16Z</dcterms:created>
  <dcterms:modified xsi:type="dcterms:W3CDTF">2026-04-30T17:12:51Z</dcterms:modified>
  <cp:category/>
</cp:coreProperties>
</file>